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9" r:id="rId9"/>
    <p:sldId id="270" r:id="rId10"/>
    <p:sldId id="271" r:id="rId11"/>
    <p:sldId id="263" r:id="rId12"/>
    <p:sldId id="266" r:id="rId13"/>
    <p:sldId id="272" r:id="rId14"/>
    <p:sldId id="264" r:id="rId15"/>
    <p:sldId id="267" r:id="rId16"/>
    <p:sldId id="265"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105" d="100"/>
          <a:sy n="105" d="100"/>
        </p:scale>
        <p:origin x="66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patha\OneDrive\Desktop\gc%20digit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Sheet1!$B$1</c:f>
              <c:strCache>
                <c:ptCount val="1"/>
                <c:pt idx="0">
                  <c:v>start date</c:v>
                </c:pt>
              </c:strCache>
            </c:strRef>
          </c:tx>
          <c:spPr>
            <a:noFill/>
            <a:ln>
              <a:noFill/>
            </a:ln>
            <a:effectLst/>
          </c:spPr>
          <c:invertIfNegative val="0"/>
          <c:cat>
            <c:strRef>
              <c:f>Sheet1!$A$2:$A$15</c:f>
              <c:strCache>
                <c:ptCount val="14"/>
                <c:pt idx="0">
                  <c:v>Group formation</c:v>
                </c:pt>
                <c:pt idx="1">
                  <c:v>Requirement Gathering</c:v>
                </c:pt>
                <c:pt idx="2">
                  <c:v>Topic Research</c:v>
                </c:pt>
                <c:pt idx="3">
                  <c:v>Basic Trials</c:v>
                </c:pt>
                <c:pt idx="4">
                  <c:v>Website Development Started</c:v>
                </c:pt>
                <c:pt idx="5">
                  <c:v>Admin Page creation</c:v>
                </c:pt>
                <c:pt idx="6">
                  <c:v>User Page creation</c:v>
                </c:pt>
                <c:pt idx="7">
                  <c:v>Connected both web pages</c:v>
                </c:pt>
                <c:pt idx="8">
                  <c:v>Prototype created</c:v>
                </c:pt>
                <c:pt idx="9">
                  <c:v>UI improvement</c:v>
                </c:pt>
                <c:pt idx="10">
                  <c:v>Minor changes in source code</c:v>
                </c:pt>
                <c:pt idx="11">
                  <c:v>Additional features added</c:v>
                </c:pt>
                <c:pt idx="12">
                  <c:v>Fixing Errors</c:v>
                </c:pt>
                <c:pt idx="13">
                  <c:v>Final Version prepared</c:v>
                </c:pt>
              </c:strCache>
            </c:strRef>
          </c:cat>
          <c:val>
            <c:numRef>
              <c:f>Sheet1!$B$2:$B$15</c:f>
              <c:numCache>
                <c:formatCode>d\-mmm</c:formatCode>
                <c:ptCount val="14"/>
                <c:pt idx="0">
                  <c:v>45683</c:v>
                </c:pt>
                <c:pt idx="1">
                  <c:v>45688</c:v>
                </c:pt>
                <c:pt idx="2">
                  <c:v>45695</c:v>
                </c:pt>
                <c:pt idx="3">
                  <c:v>45704</c:v>
                </c:pt>
                <c:pt idx="4">
                  <c:v>45713</c:v>
                </c:pt>
                <c:pt idx="5">
                  <c:v>45719</c:v>
                </c:pt>
                <c:pt idx="6">
                  <c:v>45727</c:v>
                </c:pt>
                <c:pt idx="7">
                  <c:v>45734</c:v>
                </c:pt>
                <c:pt idx="8">
                  <c:v>45738</c:v>
                </c:pt>
                <c:pt idx="9">
                  <c:v>45741</c:v>
                </c:pt>
                <c:pt idx="10" formatCode="d\-mmm\-yy">
                  <c:v>45744</c:v>
                </c:pt>
                <c:pt idx="11">
                  <c:v>45745</c:v>
                </c:pt>
                <c:pt idx="12">
                  <c:v>45752</c:v>
                </c:pt>
                <c:pt idx="13">
                  <c:v>45760</c:v>
                </c:pt>
              </c:numCache>
            </c:numRef>
          </c:val>
          <c:extLst>
            <c:ext xmlns:c16="http://schemas.microsoft.com/office/drawing/2014/chart" uri="{C3380CC4-5D6E-409C-BE32-E72D297353CC}">
              <c16:uniqueId val="{00000000-1BE2-438D-A0F9-B6AC7EA7C926}"/>
            </c:ext>
          </c:extLst>
        </c:ser>
        <c:ser>
          <c:idx val="1"/>
          <c:order val="1"/>
          <c:tx>
            <c:strRef>
              <c:f>Sheet1!$C$1</c:f>
              <c:strCache>
                <c:ptCount val="1"/>
                <c:pt idx="0">
                  <c:v>days to complete</c:v>
                </c:pt>
              </c:strCache>
            </c:strRef>
          </c:tx>
          <c:spPr>
            <a:solidFill>
              <a:srgbClr val="00B0F0"/>
            </a:solidFill>
            <a:ln>
              <a:solidFill>
                <a:schemeClr val="tx2">
                  <a:lumMod val="60000"/>
                  <a:lumOff val="40000"/>
                </a:schemeClr>
              </a:solidFill>
            </a:ln>
            <a:effectLst/>
          </c:spPr>
          <c:invertIfNegative val="0"/>
          <c:cat>
            <c:strRef>
              <c:f>Sheet1!$A$2:$A$15</c:f>
              <c:strCache>
                <c:ptCount val="14"/>
                <c:pt idx="0">
                  <c:v>Group formation</c:v>
                </c:pt>
                <c:pt idx="1">
                  <c:v>Requirement Gathering</c:v>
                </c:pt>
                <c:pt idx="2">
                  <c:v>Topic Research</c:v>
                </c:pt>
                <c:pt idx="3">
                  <c:v>Basic Trials</c:v>
                </c:pt>
                <c:pt idx="4">
                  <c:v>Website Development Started</c:v>
                </c:pt>
                <c:pt idx="5">
                  <c:v>Admin Page creation</c:v>
                </c:pt>
                <c:pt idx="6">
                  <c:v>User Page creation</c:v>
                </c:pt>
                <c:pt idx="7">
                  <c:v>Connected both web pages</c:v>
                </c:pt>
                <c:pt idx="8">
                  <c:v>Prototype created</c:v>
                </c:pt>
                <c:pt idx="9">
                  <c:v>UI improvement</c:v>
                </c:pt>
                <c:pt idx="10">
                  <c:v>Minor changes in source code</c:v>
                </c:pt>
                <c:pt idx="11">
                  <c:v>Additional features added</c:v>
                </c:pt>
                <c:pt idx="12">
                  <c:v>Fixing Errors</c:v>
                </c:pt>
                <c:pt idx="13">
                  <c:v>Final Version prepared</c:v>
                </c:pt>
              </c:strCache>
            </c:strRef>
          </c:cat>
          <c:val>
            <c:numRef>
              <c:f>Sheet1!$C$2:$C$15</c:f>
              <c:numCache>
                <c:formatCode>General</c:formatCode>
                <c:ptCount val="14"/>
                <c:pt idx="0">
                  <c:v>4</c:v>
                </c:pt>
                <c:pt idx="1">
                  <c:v>6</c:v>
                </c:pt>
                <c:pt idx="2">
                  <c:v>8</c:v>
                </c:pt>
                <c:pt idx="3">
                  <c:v>8</c:v>
                </c:pt>
                <c:pt idx="4">
                  <c:v>7</c:v>
                </c:pt>
                <c:pt idx="5">
                  <c:v>7</c:v>
                </c:pt>
                <c:pt idx="6">
                  <c:v>6</c:v>
                </c:pt>
                <c:pt idx="7">
                  <c:v>3</c:v>
                </c:pt>
                <c:pt idx="8">
                  <c:v>2</c:v>
                </c:pt>
                <c:pt idx="9">
                  <c:v>3</c:v>
                </c:pt>
                <c:pt idx="10">
                  <c:v>2</c:v>
                </c:pt>
                <c:pt idx="11">
                  <c:v>7</c:v>
                </c:pt>
                <c:pt idx="12">
                  <c:v>8</c:v>
                </c:pt>
                <c:pt idx="13">
                  <c:v>2</c:v>
                </c:pt>
              </c:numCache>
            </c:numRef>
          </c:val>
          <c:extLst>
            <c:ext xmlns:c16="http://schemas.microsoft.com/office/drawing/2014/chart" uri="{C3380CC4-5D6E-409C-BE32-E72D297353CC}">
              <c16:uniqueId val="{00000001-1BE2-438D-A0F9-B6AC7EA7C926}"/>
            </c:ext>
          </c:extLst>
        </c:ser>
        <c:dLbls>
          <c:showLegendKey val="0"/>
          <c:showVal val="0"/>
          <c:showCatName val="0"/>
          <c:showSerName val="0"/>
          <c:showPercent val="0"/>
          <c:showBubbleSize val="0"/>
        </c:dLbls>
        <c:gapWidth val="150"/>
        <c:overlap val="100"/>
        <c:axId val="136674704"/>
        <c:axId val="136665584"/>
      </c:barChart>
      <c:catAx>
        <c:axId val="13667470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65584"/>
        <c:crosses val="autoZero"/>
        <c:auto val="1"/>
        <c:lblAlgn val="ctr"/>
        <c:lblOffset val="100"/>
        <c:noMultiLvlLbl val="0"/>
      </c:catAx>
      <c:valAx>
        <c:axId val="136665584"/>
        <c:scaling>
          <c:orientation val="minMax"/>
          <c:max val="45762"/>
          <c:min val="45683"/>
        </c:scaling>
        <c:delete val="0"/>
        <c:axPos val="t"/>
        <c:majorGridlines>
          <c:spPr>
            <a:ln w="9525" cap="flat" cmpd="sng" algn="ctr">
              <a:solidFill>
                <a:schemeClr val="tx1">
                  <a:lumMod val="15000"/>
                  <a:lumOff val="85000"/>
                </a:schemeClr>
              </a:solidFill>
              <a:round/>
            </a:ln>
            <a:effectLst/>
          </c:spPr>
        </c:majorGridlines>
        <c:numFmt formatCode="d\-mmm"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6747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F7D18-E8E9-B6DF-1B82-5D9CDA9D8A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C047F3-EDCB-8FF4-34BF-6E87895B26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E53F42-2F4A-7745-9DAF-4FE82BE345EF}"/>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8E2E8F19-C2BF-2B85-94AF-23A21AC04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DEC6B7-9B4E-9B21-F28F-70C60B21CEB1}"/>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1175853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F01F-69A7-F28A-08C8-B376607D4C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CD7708-B065-624D-66B4-F13ADC75FD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676157-9DE2-E70B-5C81-35D41802A829}"/>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11C0BB50-6877-F508-ECF5-D8A9187BF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B1D735-7235-FE29-9952-909544E00BBD}"/>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144169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3BA0-3578-7C44-5C72-0D24D02E8A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D93D0A-F8F2-72FA-FE59-38FECE09AB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5CC4B7-27D3-B437-E7C2-9446FFD3A6AA}"/>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0D153FC3-EDB2-4426-A117-9FFBC7AE55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CE563E-7726-07AF-970A-7B07E8707B22}"/>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818055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BD5C-43FF-BF28-2BCE-B02E9223B1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0C58BB-2AC8-9EF0-0582-4060CE46CC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39A883-448E-1229-E8F0-65AE7B52B0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877BB8-2FCE-D948-200A-22EF7B4B363C}"/>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6" name="Footer Placeholder 5">
            <a:extLst>
              <a:ext uri="{FF2B5EF4-FFF2-40B4-BE49-F238E27FC236}">
                <a16:creationId xmlns:a16="http://schemas.microsoft.com/office/drawing/2014/main" id="{1DE1569C-1641-01E5-B1BB-8BF81C2BC9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90D56D-E7DD-1D48-49C2-D6CAC0ABA5B0}"/>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3805074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8DDAE-EF98-29B2-49C5-DB04F0B119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C3E261-F439-D911-2F50-1B10C62AFE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9A824-35B1-6ED9-88B5-2754A83728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664B65-7330-C87A-002A-2EF4009353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582716-61C0-45B6-72A2-DFD73CEAE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326337-E4D9-9BEF-EB1A-9F90D776D607}"/>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8" name="Footer Placeholder 7">
            <a:extLst>
              <a:ext uri="{FF2B5EF4-FFF2-40B4-BE49-F238E27FC236}">
                <a16:creationId xmlns:a16="http://schemas.microsoft.com/office/drawing/2014/main" id="{CDE34611-755D-E804-B9AC-8BAB164F2B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F71461-007B-B918-DF58-07E8B11C81C0}"/>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2788081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27D3-BB9C-6C45-192F-E796BD60987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D83983-F3A6-4157-74D5-A87C21FC34CC}"/>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4" name="Footer Placeholder 3">
            <a:extLst>
              <a:ext uri="{FF2B5EF4-FFF2-40B4-BE49-F238E27FC236}">
                <a16:creationId xmlns:a16="http://schemas.microsoft.com/office/drawing/2014/main" id="{85328D45-BF27-6A3D-0E7E-6D4356524F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8420C8-2E94-FAEF-EAE3-0B1ECF44F6ED}"/>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2200698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28A02B-398E-94F7-607A-D9FCCFE84EC1}"/>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3" name="Footer Placeholder 2">
            <a:extLst>
              <a:ext uri="{FF2B5EF4-FFF2-40B4-BE49-F238E27FC236}">
                <a16:creationId xmlns:a16="http://schemas.microsoft.com/office/drawing/2014/main" id="{4849F419-D6D3-B222-8DF8-FACD3622D9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CB8BFF7-D334-8D8F-4F84-821AFB5CA268}"/>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2867421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CA1D1-FC7A-930C-97C0-432A6DCC5A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200EA2-A6E6-AA7D-1C51-768D9556B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23A870-B7D7-508F-325F-75E15930B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8208C-99DD-5F1B-F5C6-549A3B8F425E}"/>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6" name="Footer Placeholder 5">
            <a:extLst>
              <a:ext uri="{FF2B5EF4-FFF2-40B4-BE49-F238E27FC236}">
                <a16:creationId xmlns:a16="http://schemas.microsoft.com/office/drawing/2014/main" id="{DCDC698B-F27B-5B17-D0FF-9A3FBF30F7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E0A060-4AF2-EB59-9EB7-8DC936F9D11D}"/>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2893953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27B5-48AB-6D84-F8ED-269FAA733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9AE263-6D73-0834-67B6-FFB75DE174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26D42D-1F43-A9B8-D89D-46BDE956F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E7F648-B0C9-A6A2-BC28-E50F9710AB2F}"/>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6" name="Footer Placeholder 5">
            <a:extLst>
              <a:ext uri="{FF2B5EF4-FFF2-40B4-BE49-F238E27FC236}">
                <a16:creationId xmlns:a16="http://schemas.microsoft.com/office/drawing/2014/main" id="{2543209E-C727-3C06-37CA-297AE0B8C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3CF9A6-1BBA-3402-9BBD-923C29211180}"/>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1809577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EBBBF-7E97-C7B8-D784-1801F4D518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7108A0-9867-8883-9B4E-288C7BA2D2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E5CEBF-09D2-65AB-9C7F-5EE4256F6CE7}"/>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8C66528B-4278-E141-E9D7-A8B1AC5823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C7CAC2-DA4A-DE15-4FAD-2B966C254D24}"/>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415120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1772CE-C848-893E-9278-DD38DFB252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2D21BA-BF01-B44D-7BCD-44B3D0261F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6CA64F-5B95-9CFB-566F-3BD1EDDB697D}"/>
              </a:ext>
            </a:extLst>
          </p:cNvPr>
          <p:cNvSpPr>
            <a:spLocks noGrp="1"/>
          </p:cNvSpPr>
          <p:nvPr>
            <p:ph type="dt" sz="half" idx="10"/>
          </p:nvPr>
        </p:nvSpPr>
        <p:spPr/>
        <p:txBody>
          <a:body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19437350-09DE-735A-39AB-B45F3F8A9E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328A37-5650-A4BB-E14D-7DA9D0507358}"/>
              </a:ext>
            </a:extLst>
          </p:cNvPr>
          <p:cNvSpPr>
            <a:spLocks noGrp="1"/>
          </p:cNvSpPr>
          <p:nvPr>
            <p:ph type="sldNum" sz="quarter" idx="12"/>
          </p:nvPr>
        </p:nvSpPr>
        <p:spPr/>
        <p:txBody>
          <a:bodyPr/>
          <a:lstStyle/>
          <a:p>
            <a:fld id="{4BB7895A-B8FF-444A-A77E-27FC66BE7E8B}" type="slidenum">
              <a:rPr lang="en-IN" smtClean="0"/>
              <a:t>‹#›</a:t>
            </a:fld>
            <a:endParaRPr lang="en-IN"/>
          </a:p>
        </p:txBody>
      </p:sp>
    </p:spTree>
    <p:extLst>
      <p:ext uri="{BB962C8B-B14F-4D97-AF65-F5344CB8AC3E}">
        <p14:creationId xmlns:p14="http://schemas.microsoft.com/office/powerpoint/2010/main" val="1921225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A0D7F-B232-DE6D-2A4D-102ADFDEEC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97693F-6066-2EA7-EC6C-16E323646F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874CD5-E929-7814-DD28-456EDB8869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227D76-08AC-46AB-AFD3-3C68DC653659}" type="datetimeFigureOut">
              <a:rPr lang="en-IN" smtClean="0"/>
              <a:t>24-04-2025</a:t>
            </a:fld>
            <a:endParaRPr lang="en-IN"/>
          </a:p>
        </p:txBody>
      </p:sp>
      <p:sp>
        <p:nvSpPr>
          <p:cNvPr id="5" name="Footer Placeholder 4">
            <a:extLst>
              <a:ext uri="{FF2B5EF4-FFF2-40B4-BE49-F238E27FC236}">
                <a16:creationId xmlns:a16="http://schemas.microsoft.com/office/drawing/2014/main" id="{F3F9D6F5-F727-68BF-22A9-C9F6A15D58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35E0C5-109C-7221-0CE7-C6DB79F1B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B7895A-B8FF-444A-A77E-27FC66BE7E8B}" type="slidenum">
              <a:rPr lang="en-IN" smtClean="0"/>
              <a:t>‹#›</a:t>
            </a:fld>
            <a:endParaRPr lang="en-IN"/>
          </a:p>
        </p:txBody>
      </p:sp>
    </p:spTree>
    <p:extLst>
      <p:ext uri="{BB962C8B-B14F-4D97-AF65-F5344CB8AC3E}">
        <p14:creationId xmlns:p14="http://schemas.microsoft.com/office/powerpoint/2010/main" val="22966859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667B-62B2-3CDA-1ADE-35833F09B828}"/>
              </a:ext>
            </a:extLst>
          </p:cNvPr>
          <p:cNvSpPr>
            <a:spLocks noGrp="1"/>
          </p:cNvSpPr>
          <p:nvPr>
            <p:ph type="ctrTitle"/>
          </p:nvPr>
        </p:nvSpPr>
        <p:spPr>
          <a:xfrm>
            <a:off x="1402619" y="2235200"/>
            <a:ext cx="9144000" cy="2387600"/>
          </a:xfrm>
        </p:spPr>
        <p:txBody>
          <a:bodyPr>
            <a:noAutofit/>
          </a:bodyPr>
          <a:lstStyle/>
          <a:p>
            <a:r>
              <a:rPr lang="en-IN" sz="8800" b="1" dirty="0">
                <a:latin typeface="Artifakt Element Heavy" panose="020B0B03050000020004" pitchFamily="34" charset="0"/>
                <a:ea typeface="Artifakt Element Heavy" panose="020B0B03050000020004" pitchFamily="34" charset="0"/>
              </a:rPr>
              <a:t>INTERNAL PRESENTATION</a:t>
            </a:r>
          </a:p>
        </p:txBody>
      </p:sp>
      <p:sp>
        <p:nvSpPr>
          <p:cNvPr id="3" name="Subtitle 2">
            <a:extLst>
              <a:ext uri="{FF2B5EF4-FFF2-40B4-BE49-F238E27FC236}">
                <a16:creationId xmlns:a16="http://schemas.microsoft.com/office/drawing/2014/main" id="{57C7E7F2-9A1A-895D-BA8A-6826E80662E0}"/>
              </a:ext>
            </a:extLst>
          </p:cNvPr>
          <p:cNvSpPr>
            <a:spLocks noGrp="1"/>
          </p:cNvSpPr>
          <p:nvPr>
            <p:ph type="subTitle" idx="1"/>
          </p:nvPr>
        </p:nvSpPr>
        <p:spPr>
          <a:xfrm>
            <a:off x="1189529" y="4622800"/>
            <a:ext cx="9478471" cy="635000"/>
          </a:xfrm>
        </p:spPr>
        <p:txBody>
          <a:bodyPr>
            <a:normAutofit/>
          </a:bodyPr>
          <a:lstStyle/>
          <a:p>
            <a:r>
              <a:rPr lang="en-IN" sz="3600" dirty="0">
                <a:latin typeface="Artifakt Element Heavy" panose="020B0B03050000020004" pitchFamily="34" charset="0"/>
                <a:ea typeface="Artifakt Element Heavy" panose="020B0B03050000020004" pitchFamily="34" charset="0"/>
              </a:rPr>
              <a:t>PROJECT REVIEW 1</a:t>
            </a:r>
          </a:p>
        </p:txBody>
      </p:sp>
      <p:pic>
        <p:nvPicPr>
          <p:cNvPr id="1026" name="Picture 2">
            <a:extLst>
              <a:ext uri="{FF2B5EF4-FFF2-40B4-BE49-F238E27FC236}">
                <a16:creationId xmlns:a16="http://schemas.microsoft.com/office/drawing/2014/main" id="{D208B7D8-C3F9-0351-45A8-7F02794C2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19958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vent form - Register | Mumbai University">
            <a:extLst>
              <a:ext uri="{FF2B5EF4-FFF2-40B4-BE49-F238E27FC236}">
                <a16:creationId xmlns:a16="http://schemas.microsoft.com/office/drawing/2014/main" id="{475536F0-9343-B136-C7BA-A4E1BE1B3B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3964" y="4622800"/>
            <a:ext cx="2028825" cy="224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88145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558F4-6F59-2E7E-0F30-D929589DB4FB}"/>
              </a:ext>
            </a:extLst>
          </p:cNvPr>
          <p:cNvSpPr>
            <a:spLocks noGrp="1"/>
          </p:cNvSpPr>
          <p:nvPr>
            <p:ph idx="1"/>
          </p:nvPr>
        </p:nvSpPr>
        <p:spPr>
          <a:xfrm>
            <a:off x="838200" y="695915"/>
            <a:ext cx="10515600" cy="4919958"/>
          </a:xfrm>
        </p:spPr>
        <p:txBody>
          <a:bodyPr>
            <a:normAutofit fontScale="85000" lnSpcReduction="20000"/>
          </a:bodyPr>
          <a:lstStyle/>
          <a:p>
            <a:pPr marL="0" indent="0" algn="ctr">
              <a:buNone/>
            </a:pPr>
            <a:r>
              <a:rPr lang="en-IN" sz="12600" dirty="0">
                <a:latin typeface="Artifakt Element Heavy" panose="020B0B03050000020004" pitchFamily="34" charset="0"/>
                <a:ea typeface="Artifakt Element Heavy" panose="020B0B03050000020004" pitchFamily="34" charset="0"/>
              </a:rPr>
              <a:t>SE COMPS [A]</a:t>
            </a:r>
          </a:p>
          <a:p>
            <a:pPr marL="0" indent="0" algn="ctr">
              <a:buNone/>
            </a:pPr>
            <a:r>
              <a:rPr lang="en-IN" sz="5700" dirty="0">
                <a:latin typeface="Artifakt Element Heavy" panose="020B0B03050000020004" pitchFamily="34" charset="0"/>
                <a:ea typeface="Artifakt Element Heavy" panose="020B0B03050000020004" pitchFamily="34" charset="0"/>
              </a:rPr>
              <a:t>SEM-IV [2024-25]</a:t>
            </a:r>
          </a:p>
          <a:p>
            <a:pPr marL="0" indent="0" algn="ctr">
              <a:buNone/>
            </a:pPr>
            <a:endParaRPr lang="en-IN" sz="3600" dirty="0">
              <a:latin typeface="Artifakt Element Heavy" panose="020B0B03050000020004" pitchFamily="34" charset="0"/>
              <a:ea typeface="Artifakt Element Heavy" panose="020B0B03050000020004" pitchFamily="34" charset="0"/>
            </a:endParaRPr>
          </a:p>
          <a:p>
            <a:pPr marL="0" indent="0" algn="ctr">
              <a:buNone/>
            </a:pPr>
            <a:endParaRPr lang="en-IN" sz="3600" dirty="0">
              <a:latin typeface="Artifakt Element Heavy" panose="020B0B03050000020004" pitchFamily="34" charset="0"/>
              <a:ea typeface="Artifakt Element Heavy" panose="020B0B03050000020004" pitchFamily="34" charset="0"/>
            </a:endParaRPr>
          </a:p>
          <a:p>
            <a:pPr marL="0" indent="0" algn="ctr">
              <a:buNone/>
            </a:pPr>
            <a:endParaRPr lang="en-IN" sz="3600" dirty="0">
              <a:latin typeface="Artifakt Element Heavy" panose="020B0B03050000020004" pitchFamily="34" charset="0"/>
              <a:ea typeface="Artifakt Element Heavy" panose="020B0B03050000020004" pitchFamily="34" charset="0"/>
            </a:endParaRPr>
          </a:p>
          <a:p>
            <a:pPr marL="0" indent="0" algn="ctr">
              <a:buNone/>
            </a:pPr>
            <a:endParaRPr lang="en-IN" sz="3600" dirty="0">
              <a:latin typeface="Artifakt Element Heavy" panose="020B0B03050000020004" pitchFamily="34" charset="0"/>
              <a:ea typeface="Artifakt Element Heavy" panose="020B0B03050000020004" pitchFamily="34" charset="0"/>
            </a:endParaRPr>
          </a:p>
          <a:p>
            <a:pPr marL="0" indent="0" algn="ctr">
              <a:buNone/>
            </a:pPr>
            <a:endParaRPr lang="en-IN" sz="3600" dirty="0">
              <a:latin typeface="Artifakt Element Heavy" panose="020B0B03050000020004" pitchFamily="34" charset="0"/>
              <a:ea typeface="Artifakt Element Heavy" panose="020B0B03050000020004" pitchFamily="34" charset="0"/>
            </a:endParaRPr>
          </a:p>
          <a:p>
            <a:pPr marL="0" indent="0" algn="ctr">
              <a:buNone/>
            </a:pPr>
            <a:r>
              <a:rPr lang="en-IN" sz="3600" dirty="0">
                <a:latin typeface="Artifakt Element Heavy" panose="020B0B03050000020004" pitchFamily="34" charset="0"/>
                <a:ea typeface="Artifakt Element Heavy" panose="020B0B03050000020004" pitchFamily="34" charset="0"/>
              </a:rPr>
              <a:t>(GROUP-7)</a:t>
            </a:r>
          </a:p>
        </p:txBody>
      </p:sp>
      <p:pic>
        <p:nvPicPr>
          <p:cNvPr id="4" name="Picture 2" descr="A picture containing symbol, logo, graphics, emblem&#10;&#10;Description automatically generated">
            <a:extLst>
              <a:ext uri="{FF2B5EF4-FFF2-40B4-BE49-F238E27FC236}">
                <a16:creationId xmlns:a16="http://schemas.microsoft.com/office/drawing/2014/main" id="{1CC30F11-C79A-90EB-EF79-76D4D28AE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575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64909-5C15-A4FA-5E82-FD8E6203B5BC}"/>
              </a:ext>
            </a:extLst>
          </p:cNvPr>
          <p:cNvSpPr>
            <a:spLocks noGrp="1"/>
          </p:cNvSpPr>
          <p:nvPr>
            <p:ph type="title"/>
          </p:nvPr>
        </p:nvSpPr>
        <p:spPr>
          <a:xfrm>
            <a:off x="538795" y="681037"/>
            <a:ext cx="10515600" cy="1325563"/>
          </a:xfrm>
        </p:spPr>
        <p:txBody>
          <a:bodyPr>
            <a:noAutofit/>
          </a:bodyPr>
          <a:lstStyle/>
          <a:p>
            <a:pPr algn="l">
              <a:buNone/>
            </a:pPr>
            <a:r>
              <a:rPr lang="en-US" sz="5400" b="0" i="0" dirty="0">
                <a:solidFill>
                  <a:srgbClr val="343A40"/>
                </a:solidFill>
                <a:effectLst/>
                <a:latin typeface="Source Sans Pro" panose="020B0503030403020204" pitchFamily="34" charset="0"/>
              </a:rPr>
              <a:t>Real-Time Digital Signage System</a:t>
            </a:r>
            <a:br>
              <a:rPr lang="en-US" sz="5400" b="0" i="0" dirty="0">
                <a:solidFill>
                  <a:srgbClr val="343A40"/>
                </a:solidFill>
                <a:effectLst/>
                <a:latin typeface="Source Sans Pro" panose="020B0503030403020204" pitchFamily="34" charset="0"/>
              </a:rPr>
            </a:br>
            <a:br>
              <a:rPr lang="en-US" sz="5400" dirty="0"/>
            </a:br>
            <a:endParaRPr lang="en-IN" sz="5400" b="1" dirty="0">
              <a:latin typeface="Artifakt Element Heavy" panose="020B0B03050000020004" pitchFamily="34" charset="0"/>
              <a:ea typeface="Artifakt Element Heavy" panose="020B0B03050000020004" pitchFamily="34" charset="0"/>
            </a:endParaRPr>
          </a:p>
        </p:txBody>
      </p:sp>
      <p:sp>
        <p:nvSpPr>
          <p:cNvPr id="3" name="Content Placeholder 2">
            <a:extLst>
              <a:ext uri="{FF2B5EF4-FFF2-40B4-BE49-F238E27FC236}">
                <a16:creationId xmlns:a16="http://schemas.microsoft.com/office/drawing/2014/main" id="{6D05B7F6-A581-CCC2-5F4D-3878C0DC7550}"/>
              </a:ext>
            </a:extLst>
          </p:cNvPr>
          <p:cNvSpPr>
            <a:spLocks noGrp="1"/>
          </p:cNvSpPr>
          <p:nvPr>
            <p:ph idx="1"/>
          </p:nvPr>
        </p:nvSpPr>
        <p:spPr>
          <a:xfrm>
            <a:off x="838200" y="2168665"/>
            <a:ext cx="10515600" cy="4008298"/>
          </a:xfrm>
        </p:spPr>
        <p:txBody>
          <a:bodyPr>
            <a:normAutofit lnSpcReduction="10000"/>
          </a:bodyPr>
          <a:lstStyle/>
          <a:p>
            <a:pPr marL="0" indent="0" algn="r">
              <a:buNone/>
            </a:pPr>
            <a:r>
              <a:rPr lang="en-IN" dirty="0"/>
              <a:t>~Team Codelike</a:t>
            </a:r>
          </a:p>
          <a:p>
            <a:pPr marL="0" indent="0">
              <a:buNone/>
            </a:pPr>
            <a:endParaRPr lang="en-IN" dirty="0">
              <a:latin typeface="Artifakt Element Heavy" panose="020B0B03050000020004" pitchFamily="34" charset="0"/>
              <a:ea typeface="Artifakt Element Heavy" panose="020B0B03050000020004" pitchFamily="34" charset="0"/>
            </a:endParaRPr>
          </a:p>
          <a:p>
            <a:pPr marL="0" indent="0">
              <a:buNone/>
            </a:pPr>
            <a:r>
              <a:rPr lang="en-IN" dirty="0">
                <a:latin typeface="Artifakt Element Heavy" panose="020B0B03050000020004" pitchFamily="34" charset="0"/>
                <a:ea typeface="Artifakt Element Heavy" panose="020B0B03050000020004" pitchFamily="34" charset="0"/>
              </a:rPr>
              <a:t>GROUP MEMBERS:</a:t>
            </a:r>
          </a:p>
          <a:p>
            <a:pPr marL="0" indent="0">
              <a:buNone/>
            </a:pPr>
            <a:endParaRPr lang="en-IN" dirty="0">
              <a:latin typeface="Artifakt Element Heavy" panose="020B0B03050000020004" pitchFamily="34" charset="0"/>
              <a:ea typeface="Artifakt Element Heavy" panose="020B0B03050000020004" pitchFamily="34" charset="0"/>
            </a:endParaRPr>
          </a:p>
          <a:p>
            <a:pPr marL="0" indent="0" rtl="0">
              <a:spcBef>
                <a:spcPts val="640"/>
              </a:spcBef>
              <a:spcAft>
                <a:spcPts val="0"/>
              </a:spcAft>
              <a:buNone/>
            </a:pP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1)Shaikh Adyan{33}</a:t>
            </a:r>
            <a:endParaRPr lang="en-IN" b="1" i="1" u="sng" dirty="0">
              <a:effectLst/>
              <a:latin typeface="Artifakt Element Heavy" panose="020B0B03050000020004" pitchFamily="34" charset="0"/>
              <a:ea typeface="Artifakt Element Heavy" panose="020B0B03050000020004" pitchFamily="34" charset="0"/>
            </a:endParaRPr>
          </a:p>
          <a:p>
            <a:pPr marL="0" indent="0" rtl="0">
              <a:spcBef>
                <a:spcPts val="640"/>
              </a:spcBef>
              <a:spcAft>
                <a:spcPts val="0"/>
              </a:spcAft>
              <a:buNone/>
            </a:pP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2)Abdul Rehman Choudhry{05)</a:t>
            </a:r>
            <a:endParaRPr lang="en-IN" b="1" i="1" u="sng" dirty="0">
              <a:effectLst/>
              <a:latin typeface="Artifakt Element Heavy" panose="020B0B03050000020004" pitchFamily="34" charset="0"/>
              <a:ea typeface="Artifakt Element Heavy" panose="020B0B03050000020004" pitchFamily="34" charset="0"/>
            </a:endParaRPr>
          </a:p>
          <a:p>
            <a:pPr marL="0" indent="0" rtl="0">
              <a:spcBef>
                <a:spcPts val="640"/>
              </a:spcBef>
              <a:spcAft>
                <a:spcPts val="0"/>
              </a:spcAft>
              <a:buNone/>
            </a:pP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3)Pathan Mugaira {25}</a:t>
            </a:r>
            <a:endParaRPr lang="en-IN" b="1" i="1" u="sng" dirty="0">
              <a:effectLst/>
              <a:latin typeface="Artifakt Element Heavy" panose="020B0B03050000020004" pitchFamily="34" charset="0"/>
              <a:ea typeface="Artifakt Element Heavy" panose="020B0B03050000020004" pitchFamily="34" charset="0"/>
            </a:endParaRPr>
          </a:p>
          <a:p>
            <a:pPr marL="0" indent="0" rtl="0">
              <a:spcBef>
                <a:spcPts val="640"/>
              </a:spcBef>
              <a:spcAft>
                <a:spcPts val="0"/>
              </a:spcAft>
              <a:buNone/>
            </a:pP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4)</a:t>
            </a:r>
            <a:r>
              <a:rPr lang="en-IN" sz="1800" b="1" i="1" u="sng" dirty="0">
                <a:solidFill>
                  <a:srgbClr val="000000"/>
                </a:solidFill>
                <a:latin typeface="Artifakt Element Heavy" panose="020B0B03050000020004" pitchFamily="34" charset="0"/>
                <a:ea typeface="Artifakt Element Heavy" panose="020B0B03050000020004" pitchFamily="34" charset="0"/>
              </a:rPr>
              <a:t>Sadriwala Mohammed</a:t>
            </a: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a:t>
            </a:r>
            <a:r>
              <a:rPr lang="en-IN" sz="1800" b="1" i="1" u="sng" dirty="0">
                <a:solidFill>
                  <a:srgbClr val="000000"/>
                </a:solidFill>
                <a:latin typeface="Artifakt Element Heavy" panose="020B0B03050000020004" pitchFamily="34" charset="0"/>
                <a:ea typeface="Artifakt Element Heavy" panose="020B0B03050000020004" pitchFamily="34" charset="0"/>
              </a:rPr>
              <a:t>28</a:t>
            </a:r>
            <a:r>
              <a:rPr lang="en-IN" sz="1800" b="1" i="1" u="sng" strike="noStrike" dirty="0">
                <a:solidFill>
                  <a:srgbClr val="000000"/>
                </a:solidFill>
                <a:effectLst/>
                <a:latin typeface="Artifakt Element Heavy" panose="020B0B03050000020004" pitchFamily="34" charset="0"/>
                <a:ea typeface="Artifakt Element Heavy" panose="020B0B03050000020004" pitchFamily="34" charset="0"/>
              </a:rPr>
              <a:t>}</a:t>
            </a:r>
            <a:endParaRPr lang="en-IN" b="1" i="1" u="sng" dirty="0">
              <a:effectLst/>
              <a:latin typeface="Artifakt Element Heavy" panose="020B0B03050000020004" pitchFamily="34" charset="0"/>
              <a:ea typeface="Artifakt Element Heavy" panose="020B0B03050000020004" pitchFamily="34" charset="0"/>
            </a:endParaRPr>
          </a:p>
          <a:p>
            <a:pPr marL="0" indent="0">
              <a:buNone/>
            </a:pPr>
            <a:br>
              <a:rPr lang="en-IN" dirty="0"/>
            </a:br>
            <a:r>
              <a:rPr lang="en-IN" dirty="0"/>
              <a:t>  </a:t>
            </a:r>
            <a:r>
              <a:rPr lang="en-IN" dirty="0">
                <a:latin typeface="Artifakt Element Heavy" panose="020B0B03050000020004" pitchFamily="34" charset="0"/>
                <a:ea typeface="Artifakt Element Heavy" panose="020B0B03050000020004" pitchFamily="34" charset="0"/>
              </a:rPr>
              <a:t>NAME OF THE GUIDE: </a:t>
            </a:r>
            <a:r>
              <a:rPr lang="en-IN" sz="1800" b="0" i="1" u="sng" strike="noStrike" dirty="0">
                <a:solidFill>
                  <a:srgbClr val="000000"/>
                </a:solidFill>
                <a:effectLst/>
                <a:latin typeface="Artifakt Element Heavy" panose="020B0B03050000020004" pitchFamily="34" charset="0"/>
                <a:ea typeface="Artifakt Element Heavy" panose="020B0B03050000020004" pitchFamily="34" charset="0"/>
              </a:rPr>
              <a:t>SHAIKH MOHD ASHFAQUE</a:t>
            </a:r>
            <a:endParaRPr lang="en-IN" i="1" u="sng" dirty="0">
              <a:latin typeface="Artifakt Element Heavy" panose="020B0B03050000020004" pitchFamily="34" charset="0"/>
              <a:ea typeface="Artifakt Element Heavy" panose="020B0B03050000020004" pitchFamily="34" charset="0"/>
            </a:endParaRPr>
          </a:p>
        </p:txBody>
      </p:sp>
      <p:pic>
        <p:nvPicPr>
          <p:cNvPr id="4" name="Picture 2" descr="A picture containing symbol, logo, graphics, emblem&#10;&#10;Description automatically generated">
            <a:extLst>
              <a:ext uri="{FF2B5EF4-FFF2-40B4-BE49-F238E27FC236}">
                <a16:creationId xmlns:a16="http://schemas.microsoft.com/office/drawing/2014/main" id="{03EB6339-E90A-68CD-DFAC-3260207BB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9978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DE79-9186-D039-5185-F0E7B19D82FF}"/>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INDEX</a:t>
            </a:r>
          </a:p>
        </p:txBody>
      </p:sp>
      <p:sp>
        <p:nvSpPr>
          <p:cNvPr id="3" name="Content Placeholder 2">
            <a:extLst>
              <a:ext uri="{FF2B5EF4-FFF2-40B4-BE49-F238E27FC236}">
                <a16:creationId xmlns:a16="http://schemas.microsoft.com/office/drawing/2014/main" id="{696DD287-7BDF-95B5-3D64-69D3F79EF70A}"/>
              </a:ext>
            </a:extLst>
          </p:cNvPr>
          <p:cNvSpPr>
            <a:spLocks noGrp="1"/>
          </p:cNvSpPr>
          <p:nvPr>
            <p:ph idx="1"/>
          </p:nvPr>
        </p:nvSpPr>
        <p:spPr>
          <a:xfrm>
            <a:off x="838200" y="1189529"/>
            <a:ext cx="10515600" cy="5429756"/>
          </a:xfrm>
        </p:spPr>
        <p:txBody>
          <a:bodyPr>
            <a:noAutofit/>
          </a:bodyPr>
          <a:lstStyle/>
          <a:p>
            <a:pPr rtl="0" fontAlgn="base">
              <a:spcBef>
                <a:spcPts val="0"/>
              </a:spcBef>
              <a:spcAft>
                <a:spcPts val="0"/>
              </a:spcAft>
              <a:buFont typeface="Arial" panose="020B0604020202020204" pitchFamily="34" charset="0"/>
              <a:buChar char="•"/>
            </a:pPr>
            <a:endParaRPr lang="en-IN" sz="2000" b="0" i="0" u="none" strike="noStrike" dirty="0">
              <a:effectLst/>
              <a:latin typeface="Times New Roman" panose="02020603050405020304" pitchFamily="18" charset="0"/>
            </a:endParaRPr>
          </a:p>
          <a:p>
            <a:pPr rtl="0" fontAlgn="base">
              <a:spcBef>
                <a:spcPts val="0"/>
              </a:spcBef>
              <a:spcAft>
                <a:spcPts val="0"/>
              </a:spcAft>
              <a:buFont typeface="Arial" panose="020B0604020202020204" pitchFamily="34" charset="0"/>
              <a:buChar char="•"/>
            </a:pPr>
            <a:endParaRPr lang="en-IN" sz="2000" dirty="0">
              <a:latin typeface="Times New Roman" panose="02020603050405020304" pitchFamily="18" charset="0"/>
            </a:endParaRPr>
          </a:p>
          <a:p>
            <a:pPr rtl="0" fontAlgn="base">
              <a:spcBef>
                <a:spcPts val="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Introduction</a:t>
            </a:r>
            <a:endParaRPr lang="en-IN" sz="2000" b="0" i="0" u="none" strike="noStrike" dirty="0">
              <a:effectLst/>
              <a:latin typeface="Arial" panose="020B0604020202020204" pitchFamily="34" charset="0"/>
            </a:endParaRP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Need / Motivation</a:t>
            </a:r>
            <a:endParaRPr lang="en-IN" sz="2000" b="0" i="0" u="none" strike="noStrike" dirty="0">
              <a:effectLst/>
              <a:latin typeface="Arial" panose="020B0604020202020204" pitchFamily="34" charset="0"/>
            </a:endParaRP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Problem Statement</a:t>
            </a:r>
          </a:p>
          <a:p>
            <a:pPr rtl="0" fontAlgn="base">
              <a:spcBef>
                <a:spcPts val="320"/>
              </a:spcBef>
              <a:spcAft>
                <a:spcPts val="0"/>
              </a:spcAft>
              <a:buFont typeface="Arial" panose="020B0604020202020204" pitchFamily="34" charset="0"/>
              <a:buChar char="•"/>
            </a:pPr>
            <a:r>
              <a:rPr lang="en-IN" sz="2000" dirty="0">
                <a:latin typeface="Times New Roman" panose="02020603050405020304" pitchFamily="18" charset="0"/>
              </a:rPr>
              <a:t>Existing Methodology</a:t>
            </a: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Challenges </a:t>
            </a:r>
            <a:r>
              <a:rPr lang="en-IN" sz="2000" dirty="0">
                <a:latin typeface="Times New Roman" panose="02020603050405020304" pitchFamily="18" charset="0"/>
              </a:rPr>
              <a:t>In Existing Methodology</a:t>
            </a: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cs typeface="Times New Roman" panose="02020603050405020304" pitchFamily="18" charset="0"/>
              </a:rPr>
              <a:t>Proposed Methodology</a:t>
            </a: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Algorithm</a:t>
            </a: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Implementation Plan </a:t>
            </a:r>
            <a:endParaRPr lang="en-IN" sz="2000" b="0" i="0" u="none" strike="noStrike" dirty="0">
              <a:effectLst/>
              <a:latin typeface="Arial" panose="020B0604020202020204" pitchFamily="34" charset="0"/>
            </a:endParaRP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Software/ Hardware Requirements</a:t>
            </a:r>
            <a:endParaRPr lang="en-IN" sz="2000" b="0" i="0" u="none" strike="noStrike" dirty="0">
              <a:effectLst/>
              <a:latin typeface="Arial" panose="020B0604020202020204" pitchFamily="34" charset="0"/>
            </a:endParaRPr>
          </a:p>
          <a:p>
            <a:pPr rtl="0" fontAlgn="base">
              <a:spcBef>
                <a:spcPts val="320"/>
              </a:spcBef>
              <a:spcAft>
                <a:spcPts val="0"/>
              </a:spcAft>
              <a:buFont typeface="Arial" panose="020B0604020202020204" pitchFamily="34" charset="0"/>
              <a:buChar char="•"/>
            </a:pPr>
            <a:r>
              <a:rPr lang="en-IN" sz="2000" b="0" i="0" u="none" strike="noStrike" dirty="0">
                <a:effectLst/>
                <a:latin typeface="Times New Roman" panose="02020603050405020304" pitchFamily="18" charset="0"/>
              </a:rPr>
              <a:t>Implementation Plan</a:t>
            </a:r>
          </a:p>
          <a:p>
            <a:pPr fontAlgn="base">
              <a:spcBef>
                <a:spcPts val="320"/>
              </a:spcBef>
            </a:pPr>
            <a:r>
              <a:rPr lang="en-IN" sz="2000" dirty="0">
                <a:latin typeface="Times New Roman" panose="02020603050405020304" pitchFamily="18" charset="0"/>
              </a:rPr>
              <a:t>Future Scope</a:t>
            </a:r>
          </a:p>
          <a:p>
            <a:pPr fontAlgn="base">
              <a:spcBef>
                <a:spcPts val="320"/>
              </a:spcBef>
            </a:pPr>
            <a:r>
              <a:rPr lang="en-IN" sz="2000" b="0" i="0" u="none" strike="noStrike" dirty="0">
                <a:effectLst/>
                <a:latin typeface="Times New Roman" panose="02020603050405020304" pitchFamily="18" charset="0"/>
              </a:rPr>
              <a:t>Conclusion</a:t>
            </a:r>
            <a:r>
              <a:rPr lang="en-IN" sz="1000" dirty="0">
                <a:latin typeface="Times New Roman" panose="02020603050405020304" pitchFamily="18" charset="0"/>
              </a:rPr>
              <a:t>.</a:t>
            </a:r>
          </a:p>
          <a:p>
            <a:pPr fontAlgn="base">
              <a:spcBef>
                <a:spcPts val="320"/>
              </a:spcBef>
            </a:pPr>
            <a:r>
              <a:rPr lang="en-IN" sz="2000" dirty="0">
                <a:latin typeface="Times New Roman" panose="02020603050405020304" pitchFamily="18" charset="0"/>
              </a:rPr>
              <a:t>References</a:t>
            </a:r>
            <a:endParaRPr lang="en-IN" sz="2000" dirty="0"/>
          </a:p>
        </p:txBody>
      </p:sp>
      <p:pic>
        <p:nvPicPr>
          <p:cNvPr id="4" name="Picture 2" descr="A picture containing symbol, logo, graphics, emblem&#10;&#10;Description automatically generated">
            <a:extLst>
              <a:ext uri="{FF2B5EF4-FFF2-40B4-BE49-F238E27FC236}">
                <a16:creationId xmlns:a16="http://schemas.microsoft.com/office/drawing/2014/main" id="{7896FC02-1775-1BDF-5887-13EDE1A17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685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A2C4-944D-ADD1-2D84-497BAC7B6C3A}"/>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INTRODUCTION</a:t>
            </a:r>
          </a:p>
        </p:txBody>
      </p:sp>
      <p:sp>
        <p:nvSpPr>
          <p:cNvPr id="3" name="Content Placeholder 2">
            <a:extLst>
              <a:ext uri="{FF2B5EF4-FFF2-40B4-BE49-F238E27FC236}">
                <a16:creationId xmlns:a16="http://schemas.microsoft.com/office/drawing/2014/main" id="{2DD464F7-7896-B002-339A-E6EB746A0B4C}"/>
              </a:ext>
            </a:extLst>
          </p:cNvPr>
          <p:cNvSpPr>
            <a:spLocks noGrp="1"/>
          </p:cNvSpPr>
          <p:nvPr>
            <p:ph idx="1"/>
          </p:nvPr>
        </p:nvSpPr>
        <p:spPr/>
        <p:txBody>
          <a:bodyPr/>
          <a:lstStyle/>
          <a:p>
            <a:pPr marL="0" indent="0">
              <a:buNone/>
            </a:pPr>
            <a:r>
              <a:rPr lang="en-US" dirty="0"/>
              <a:t>The Real-Time Digital Signage System is a dynamic solution designed to instantly display multimedia content—such as images, text, and videos—on digital screens. Aimed at enhancing communication in environments like malls, offices, schools, and public areas, this system allows users to remotely manage and update content in real time. With a user-friendly interface and automatic synchronization, it eliminates the need for manual intervention, making content delivery faster, smarter, and more efficient.</a:t>
            </a:r>
            <a:endParaRPr lang="en-IN" dirty="0"/>
          </a:p>
        </p:txBody>
      </p:sp>
      <p:pic>
        <p:nvPicPr>
          <p:cNvPr id="4" name="Picture 2" descr="A picture containing symbol, logo, graphics, emblem&#10;&#10;Description automatically generated">
            <a:extLst>
              <a:ext uri="{FF2B5EF4-FFF2-40B4-BE49-F238E27FC236}">
                <a16:creationId xmlns:a16="http://schemas.microsoft.com/office/drawing/2014/main" id="{83338599-21BF-9A55-5E93-AAB511D82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5586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A6569-355F-0CCD-4476-6261333B84E0}"/>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NEED/ MOTIVATION</a:t>
            </a:r>
          </a:p>
        </p:txBody>
      </p:sp>
      <p:sp>
        <p:nvSpPr>
          <p:cNvPr id="3" name="Content Placeholder 2">
            <a:extLst>
              <a:ext uri="{FF2B5EF4-FFF2-40B4-BE49-F238E27FC236}">
                <a16:creationId xmlns:a16="http://schemas.microsoft.com/office/drawing/2014/main" id="{2084A422-BA6F-4761-F2ED-4E78B27EB237}"/>
              </a:ext>
            </a:extLst>
          </p:cNvPr>
          <p:cNvSpPr>
            <a:spLocks noGrp="1"/>
          </p:cNvSpPr>
          <p:nvPr>
            <p:ph idx="1"/>
          </p:nvPr>
        </p:nvSpPr>
        <p:spPr/>
        <p:txBody>
          <a:bodyPr>
            <a:normAutofit/>
          </a:bodyPr>
          <a:lstStyle/>
          <a:p>
            <a:pPr marL="0" indent="0">
              <a:buNone/>
            </a:pPr>
            <a:r>
              <a:rPr lang="en-US" dirty="0"/>
              <a:t>In today’s fast-paced world, timely and effective communication is essential—especially in public and professional environments. Traditional methods of updating display content are often manual, time-consuming, and inefficient. There is a growing need for a system that allows instant updates, centralized control, and support for diverse media formats. The Real-Time Digital Signage System addresses this need by providing a modern, automated platform that simplifies content management while ensuring that information reaches audiences instantly and effectively.</a:t>
            </a:r>
            <a:endParaRPr lang="en-IN" dirty="0"/>
          </a:p>
        </p:txBody>
      </p:sp>
      <p:pic>
        <p:nvPicPr>
          <p:cNvPr id="4" name="Picture 2" descr="A picture containing symbol, logo, graphics, emblem&#10;&#10;Description automatically generated">
            <a:extLst>
              <a:ext uri="{FF2B5EF4-FFF2-40B4-BE49-F238E27FC236}">
                <a16:creationId xmlns:a16="http://schemas.microsoft.com/office/drawing/2014/main" id="{706639E0-7338-BAD0-9FE7-FBF9B2D7DC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825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CD32-C395-A6B2-A28C-F96A2CA17786}"/>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PROBLEM STATEMENT</a:t>
            </a:r>
          </a:p>
        </p:txBody>
      </p:sp>
      <p:sp>
        <p:nvSpPr>
          <p:cNvPr id="3" name="Content Placeholder 2">
            <a:extLst>
              <a:ext uri="{FF2B5EF4-FFF2-40B4-BE49-F238E27FC236}">
                <a16:creationId xmlns:a16="http://schemas.microsoft.com/office/drawing/2014/main" id="{3184C49F-628E-D6FD-CF2F-E52025CAC6EC}"/>
              </a:ext>
            </a:extLst>
          </p:cNvPr>
          <p:cNvSpPr>
            <a:spLocks noGrp="1"/>
          </p:cNvSpPr>
          <p:nvPr>
            <p:ph idx="1"/>
          </p:nvPr>
        </p:nvSpPr>
        <p:spPr/>
        <p:txBody>
          <a:bodyPr>
            <a:normAutofit/>
          </a:bodyPr>
          <a:lstStyle/>
          <a:p>
            <a:r>
              <a:rPr lang="en-US" sz="2400" dirty="0"/>
              <a:t>In many organizations and public spaces, updating digital display content is often a manual and delayed process, leading to outdated information, inefficiencies, and communication gaps. Existing systems may lack real-time capabilities, centralized control, or support for diverse media formats. There is a need for a robust and efficient solution that enables instant, remote, and seamless content updates on digital screens without requiring physical access or manual intervention.</a:t>
            </a:r>
          </a:p>
        </p:txBody>
      </p:sp>
      <p:pic>
        <p:nvPicPr>
          <p:cNvPr id="4" name="Picture 2" descr="A picture containing symbol, logo, graphics, emblem&#10;&#10;Description automatically generated">
            <a:extLst>
              <a:ext uri="{FF2B5EF4-FFF2-40B4-BE49-F238E27FC236}">
                <a16:creationId xmlns:a16="http://schemas.microsoft.com/office/drawing/2014/main" id="{83BD4464-4F1F-5AFF-6D01-35B0FDF54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478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7A595-B6AB-D4D9-D636-A51179B84FB1}"/>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EXISTING METHODOLOGY</a:t>
            </a:r>
          </a:p>
        </p:txBody>
      </p:sp>
      <p:sp>
        <p:nvSpPr>
          <p:cNvPr id="6" name="Rectangle 3">
            <a:extLst>
              <a:ext uri="{FF2B5EF4-FFF2-40B4-BE49-F238E27FC236}">
                <a16:creationId xmlns:a16="http://schemas.microsoft.com/office/drawing/2014/main" id="{84E8EB69-C974-0735-7E84-3FFD1AC89408}"/>
              </a:ext>
            </a:extLst>
          </p:cNvPr>
          <p:cNvSpPr>
            <a:spLocks noGrp="1" noChangeArrowheads="1"/>
          </p:cNvSpPr>
          <p:nvPr>
            <p:ph idx="1"/>
          </p:nvPr>
        </p:nvSpPr>
        <p:spPr bwMode="auto">
          <a:xfrm>
            <a:off x="0" y="1293462"/>
            <a:ext cx="12114214"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Manual Updates via USB or Local Storage:</a:t>
            </a:r>
            <a:endParaRPr lang="en-US" altLang="en-US" sz="2400" dirty="0">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Most traditional systems require physically transferring content</a:t>
            </a:r>
          </a:p>
          <a:p>
            <a:pPr marL="0" marR="0" lvl="0" indent="0" defTabSz="914400" rtl="0" eaLnBrk="0" fontAlgn="base" latinLnBrk="0" hangingPunct="0">
              <a:lnSpc>
                <a:spcPct val="100000"/>
              </a:lnSpc>
              <a:spcBef>
                <a:spcPct val="0"/>
              </a:spcBef>
              <a:spcAft>
                <a:spcPct val="0"/>
              </a:spcAft>
              <a:buClrTx/>
              <a:buSzTx/>
              <a:buNone/>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using USB drives or directly connecting to the display system, which is time-consuming</a:t>
            </a:r>
          </a:p>
          <a:p>
            <a:pPr marL="0" marR="0" lvl="0" indent="0"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and inefficient.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Dependence on Standalone Media Players: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These setups often rely on basic media players with limited </a:t>
            </a:r>
          </a:p>
          <a:p>
            <a:pPr marL="0" marR="0" lvl="0" indent="0"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features and no real-time update capabilities.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Cloud-Based Solutions (with Limitations):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Some advanced systems use cloud platforms, but they may be</a:t>
            </a:r>
          </a:p>
          <a:p>
            <a:pPr marL="0" marR="0" lvl="0" indent="0"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costly</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lack customization</a:t>
            </a:r>
            <a:r>
              <a:rPr kumimoji="0" lang="en-US" altLang="en-US" sz="2400" b="0" i="0" u="none" strike="noStrike" cap="none" normalizeH="0" baseline="0" dirty="0">
                <a:ln>
                  <a:noFill/>
                </a:ln>
                <a:solidFill>
                  <a:schemeClr val="tx1"/>
                </a:solidFill>
                <a:effectLst/>
                <a:latin typeface="Arial" panose="020B0604020202020204" pitchFamily="34" charset="0"/>
              </a:rPr>
              <a:t>, or require </a:t>
            </a:r>
            <a:r>
              <a:rPr kumimoji="0" lang="en-US" altLang="en-US" sz="2400" b="1" i="0" u="none" strike="noStrike" cap="none" normalizeH="0" baseline="0" dirty="0">
                <a:ln>
                  <a:noFill/>
                </a:ln>
                <a:solidFill>
                  <a:schemeClr val="tx1"/>
                </a:solidFill>
                <a:effectLst/>
                <a:latin typeface="Arial" panose="020B0604020202020204" pitchFamily="34" charset="0"/>
              </a:rPr>
              <a:t>reliable high-speed internet</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Lack of Real-Time Synchronization: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In many cases, updates are not reflected immediately, leading to</a:t>
            </a:r>
          </a:p>
          <a:p>
            <a:pPr marL="0" marR="0" lvl="0" indent="0"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delays in communication</a:t>
            </a:r>
            <a:r>
              <a:rPr kumimoji="0" lang="en-US" altLang="en-US" sz="2400" b="0"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a:ln>
                  <a:noFill/>
                </a:ln>
                <a:solidFill>
                  <a:schemeClr val="tx1"/>
                </a:solidFill>
                <a:effectLst/>
                <a:latin typeface="Arial" panose="020B0604020202020204" pitchFamily="34" charset="0"/>
              </a:rPr>
              <a:t>outdated content</a:t>
            </a:r>
            <a:r>
              <a:rPr kumimoji="0" lang="en-US" altLang="en-US" sz="2400" b="0" i="0" u="none" strike="noStrike" cap="none" normalizeH="0" baseline="0" dirty="0">
                <a:ln>
                  <a:noFill/>
                </a:ln>
                <a:solidFill>
                  <a:schemeClr val="tx1"/>
                </a:solidFill>
                <a:effectLst/>
                <a:latin typeface="Arial" panose="020B0604020202020204" pitchFamily="34" charset="0"/>
              </a:rPr>
              <a:t> on screens.</a:t>
            </a:r>
          </a:p>
        </p:txBody>
      </p:sp>
    </p:spTree>
    <p:extLst>
      <p:ext uri="{BB962C8B-B14F-4D97-AF65-F5344CB8AC3E}">
        <p14:creationId xmlns:p14="http://schemas.microsoft.com/office/powerpoint/2010/main" val="2158834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02002-0CA8-9B8B-3058-8A733C489525}"/>
              </a:ext>
            </a:extLst>
          </p:cNvPr>
          <p:cNvSpPr>
            <a:spLocks noGrp="1"/>
          </p:cNvSpPr>
          <p:nvPr>
            <p:ph type="title"/>
          </p:nvPr>
        </p:nvSpPr>
        <p:spPr>
          <a:xfrm>
            <a:off x="838200" y="1407381"/>
            <a:ext cx="10515600" cy="283307"/>
          </a:xfrm>
        </p:spPr>
        <p:txBody>
          <a:bodyPr>
            <a:noAutofit/>
          </a:bodyPr>
          <a:lstStyle/>
          <a:p>
            <a:r>
              <a:rPr lang="en-US" sz="6000" dirty="0">
                <a:latin typeface="Artifakt Element Heavy" panose="020B0B03050000020004" pitchFamily="34" charset="0"/>
                <a:ea typeface="Artifakt Element Heavy" panose="020B0B03050000020004" pitchFamily="34" charset="0"/>
              </a:rPr>
              <a:t>CHALLENGES IN EXISTING METHODOLOGY</a:t>
            </a:r>
            <a:endParaRPr lang="en-IN" sz="6000" dirty="0">
              <a:latin typeface="Artifakt Element Heavy" panose="020B0B03050000020004" pitchFamily="34" charset="0"/>
              <a:ea typeface="Artifakt Element Heavy" panose="020B0B03050000020004" pitchFamily="34" charset="0"/>
            </a:endParaRPr>
          </a:p>
        </p:txBody>
      </p:sp>
      <p:sp>
        <p:nvSpPr>
          <p:cNvPr id="12" name="Rectangle 8">
            <a:extLst>
              <a:ext uri="{FF2B5EF4-FFF2-40B4-BE49-F238E27FC236}">
                <a16:creationId xmlns:a16="http://schemas.microsoft.com/office/drawing/2014/main" id="{82BC4945-30AF-3619-C7AF-9CBD97990989}"/>
              </a:ext>
            </a:extLst>
          </p:cNvPr>
          <p:cNvSpPr>
            <a:spLocks noGrp="1" noChangeArrowheads="1"/>
          </p:cNvSpPr>
          <p:nvPr>
            <p:ph idx="1"/>
          </p:nvPr>
        </p:nvSpPr>
        <p:spPr bwMode="auto">
          <a:xfrm>
            <a:off x="838200" y="2293135"/>
            <a:ext cx="1087028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Time-Consuming Content Updates: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Manual processes like using USB drives require physical presence, leading to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delays in </a:t>
            </a: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updating content across multiple displays.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Limited Real-Time Control:</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Most systems lack real-time update capabilities, preventing instant content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changes during emergencies or live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High Maintenance Effort: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Frequent manual intervention increases the workload for staff, especially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Arial" panose="020B0604020202020204" pitchFamily="34" charset="0"/>
              </a:rPr>
              <a:t>when managing content across several screens.</a:t>
            </a:r>
          </a:p>
        </p:txBody>
      </p:sp>
    </p:spTree>
    <p:extLst>
      <p:ext uri="{BB962C8B-B14F-4D97-AF65-F5344CB8AC3E}">
        <p14:creationId xmlns:p14="http://schemas.microsoft.com/office/powerpoint/2010/main" val="267959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978B-E2D8-F964-337C-936FCDA305E4}"/>
              </a:ext>
            </a:extLst>
          </p:cNvPr>
          <p:cNvSpPr>
            <a:spLocks noGrp="1"/>
          </p:cNvSpPr>
          <p:nvPr>
            <p:ph type="title"/>
          </p:nvPr>
        </p:nvSpPr>
        <p:spPr/>
        <p:txBody>
          <a:bodyPr>
            <a:normAutofit/>
          </a:bodyPr>
          <a:lstStyle/>
          <a:p>
            <a:r>
              <a:rPr lang="en-US" sz="6600" dirty="0">
                <a:latin typeface="Artifakt Element Heavy" panose="020B0B03050000020004" pitchFamily="34" charset="0"/>
                <a:ea typeface="Artifakt Element Heavy" panose="020B0B03050000020004" pitchFamily="34" charset="0"/>
              </a:rPr>
              <a:t>PROPOSED METHODOLOGY</a:t>
            </a:r>
            <a:endParaRPr lang="en-IN" sz="6600" dirty="0">
              <a:latin typeface="Artifakt Element Heavy" panose="020B0B03050000020004" pitchFamily="34" charset="0"/>
              <a:ea typeface="Artifakt Element Heavy" panose="020B0B03050000020004" pitchFamily="34" charset="0"/>
            </a:endParaRPr>
          </a:p>
        </p:txBody>
      </p:sp>
      <p:sp>
        <p:nvSpPr>
          <p:cNvPr id="3" name="Content Placeholder 2">
            <a:extLst>
              <a:ext uri="{FF2B5EF4-FFF2-40B4-BE49-F238E27FC236}">
                <a16:creationId xmlns:a16="http://schemas.microsoft.com/office/drawing/2014/main" id="{7A5F0E1E-990D-8CF4-B042-4F3D701B54B7}"/>
              </a:ext>
            </a:extLst>
          </p:cNvPr>
          <p:cNvSpPr>
            <a:spLocks noGrp="1"/>
          </p:cNvSpPr>
          <p:nvPr>
            <p:ph idx="1"/>
          </p:nvPr>
        </p:nvSpPr>
        <p:spPr/>
        <p:txBody>
          <a:bodyPr>
            <a:normAutofit fontScale="62500" lnSpcReduction="20000"/>
          </a:bodyPr>
          <a:lstStyle/>
          <a:p>
            <a:pPr>
              <a:buNone/>
            </a:pPr>
            <a:r>
              <a:rPr lang="en-US" b="1" dirty="0"/>
              <a:t>Proposed Methodology</a:t>
            </a:r>
            <a:endParaRPr lang="en-US" dirty="0"/>
          </a:p>
          <a:p>
            <a:pPr>
              <a:buFont typeface="Arial" panose="020B0604020202020204" pitchFamily="34" charset="0"/>
              <a:buChar char="•"/>
            </a:pPr>
            <a:r>
              <a:rPr lang="en-US" b="1" dirty="0"/>
              <a:t>Real-Time Content Upload and Display:</a:t>
            </a:r>
            <a:br>
              <a:rPr lang="en-US" dirty="0"/>
            </a:br>
            <a:r>
              <a:rPr lang="en-US" dirty="0"/>
              <a:t>Users can upload images, text, or videos through a user-friendly interface, and the content is instantly displayed on the connected screen.</a:t>
            </a:r>
          </a:p>
          <a:p>
            <a:pPr>
              <a:buFont typeface="Arial" panose="020B0604020202020204" pitchFamily="34" charset="0"/>
              <a:buChar char="•"/>
            </a:pPr>
            <a:r>
              <a:rPr lang="en-US" b="1" dirty="0"/>
              <a:t>Client-Server Architecture:</a:t>
            </a:r>
            <a:br>
              <a:rPr lang="en-US" dirty="0"/>
            </a:br>
            <a:r>
              <a:rPr lang="en-US" dirty="0"/>
              <a:t>A central server handles content management, while client applications (connected screens) receive and display updates in real time using socket programming.</a:t>
            </a:r>
          </a:p>
          <a:p>
            <a:pPr>
              <a:buFont typeface="Arial" panose="020B0604020202020204" pitchFamily="34" charset="0"/>
              <a:buChar char="•"/>
            </a:pPr>
            <a:r>
              <a:rPr lang="en-US" b="1" dirty="0"/>
              <a:t>Remote Content Management:</a:t>
            </a:r>
            <a:br>
              <a:rPr lang="en-US" dirty="0"/>
            </a:br>
            <a:r>
              <a:rPr lang="en-US" dirty="0"/>
              <a:t>Content can be managed from any authorized device, eliminating the need for physical access to the display.</a:t>
            </a:r>
          </a:p>
          <a:p>
            <a:pPr>
              <a:buFont typeface="Arial" panose="020B0604020202020204" pitchFamily="34" charset="0"/>
              <a:buChar char="•"/>
            </a:pPr>
            <a:r>
              <a:rPr lang="en-US" b="1" dirty="0"/>
              <a:t>Automated Synchronization:</a:t>
            </a:r>
            <a:br>
              <a:rPr lang="en-US" dirty="0"/>
            </a:br>
            <a:r>
              <a:rPr lang="en-US" dirty="0"/>
              <a:t>The system ensures that all connected screens are automatically updated whenever new content is added or modified.</a:t>
            </a:r>
          </a:p>
          <a:p>
            <a:pPr>
              <a:buFont typeface="Arial" panose="020B0604020202020204" pitchFamily="34" charset="0"/>
              <a:buChar char="•"/>
            </a:pPr>
            <a:r>
              <a:rPr lang="en-US" b="1" dirty="0"/>
              <a:t>Support for Multiple Media Formats:</a:t>
            </a:r>
            <a:br>
              <a:rPr lang="en-US" dirty="0"/>
            </a:br>
            <a:r>
              <a:rPr lang="en-US" dirty="0"/>
              <a:t>The system can handle diverse types of content (images, videos, text), providing flexibility for various display needs.</a:t>
            </a:r>
          </a:p>
          <a:p>
            <a:pPr>
              <a:buFont typeface="Arial" panose="020B0604020202020204" pitchFamily="34" charset="0"/>
              <a:buChar char="•"/>
            </a:pPr>
            <a:r>
              <a:rPr lang="en-US" b="1" dirty="0"/>
              <a:t>Scalable and Secure:</a:t>
            </a:r>
            <a:br>
              <a:rPr lang="en-US" dirty="0"/>
            </a:br>
            <a:r>
              <a:rPr lang="en-US" dirty="0"/>
              <a:t>Easily adaptable to multiple displays and locations with secure user access controls and authentication.</a:t>
            </a:r>
          </a:p>
        </p:txBody>
      </p:sp>
    </p:spTree>
    <p:extLst>
      <p:ext uri="{BB962C8B-B14F-4D97-AF65-F5344CB8AC3E}">
        <p14:creationId xmlns:p14="http://schemas.microsoft.com/office/powerpoint/2010/main" val="2108687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3F2DD-D758-FF9D-EC6F-BFC020EEBD33}"/>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ALGORITHM</a:t>
            </a:r>
          </a:p>
        </p:txBody>
      </p:sp>
      <p:sp>
        <p:nvSpPr>
          <p:cNvPr id="3" name="Content Placeholder 2">
            <a:extLst>
              <a:ext uri="{FF2B5EF4-FFF2-40B4-BE49-F238E27FC236}">
                <a16:creationId xmlns:a16="http://schemas.microsoft.com/office/drawing/2014/main" id="{64595C40-D9DF-C004-9CAD-C09115C31C27}"/>
              </a:ext>
            </a:extLst>
          </p:cNvPr>
          <p:cNvSpPr>
            <a:spLocks noGrp="1"/>
          </p:cNvSpPr>
          <p:nvPr>
            <p:ph idx="1"/>
          </p:nvPr>
        </p:nvSpPr>
        <p:spPr>
          <a:xfrm>
            <a:off x="0" y="1547098"/>
            <a:ext cx="10515600" cy="4348598"/>
          </a:xfrm>
        </p:spPr>
        <p:txBody>
          <a:bodyPr>
            <a:noAutofit/>
          </a:bodyPr>
          <a:lstStyle/>
          <a:p>
            <a:pPr>
              <a:buNone/>
            </a:pPr>
            <a:r>
              <a:rPr lang="en-US" sz="3600" b="1" dirty="0"/>
              <a:t> Algorithm for Real-Time Digital Signage System</a:t>
            </a:r>
            <a:endParaRPr lang="en-US" sz="3600" dirty="0"/>
          </a:p>
          <a:p>
            <a:pPr>
              <a:buFont typeface="+mj-lt"/>
              <a:buAutoNum type="arabicPeriod"/>
            </a:pPr>
            <a:r>
              <a:rPr lang="en-US" sz="3600" b="1" dirty="0"/>
              <a:t>Start the server.</a:t>
            </a:r>
            <a:endParaRPr lang="en-US" sz="3600" dirty="0"/>
          </a:p>
          <a:p>
            <a:pPr>
              <a:buFont typeface="+mj-lt"/>
              <a:buAutoNum type="arabicPeriod"/>
            </a:pPr>
            <a:r>
              <a:rPr lang="en-US" sz="3600" b="1" dirty="0"/>
              <a:t>Wait for client (display screen) connections.</a:t>
            </a:r>
            <a:endParaRPr lang="en-US" sz="3600" dirty="0"/>
          </a:p>
          <a:p>
            <a:pPr>
              <a:buFont typeface="+mj-lt"/>
              <a:buAutoNum type="arabicPeriod"/>
            </a:pPr>
            <a:r>
              <a:rPr lang="en-US" sz="3600" b="1" dirty="0"/>
              <a:t>Authenticate the user (admin/content manager) via the interface.</a:t>
            </a:r>
            <a:endParaRPr lang="en-US" sz="3600" dirty="0"/>
          </a:p>
          <a:p>
            <a:pPr>
              <a:buFont typeface="+mj-lt"/>
              <a:buAutoNum type="arabicPeriod"/>
            </a:pPr>
            <a:r>
              <a:rPr lang="en-US" sz="3600" b="1" dirty="0"/>
              <a:t>User selects and uploads content</a:t>
            </a:r>
            <a:r>
              <a:rPr lang="en-US" sz="3600" dirty="0"/>
              <a:t> (image, video, or text).</a:t>
            </a:r>
          </a:p>
          <a:p>
            <a:pPr>
              <a:buFont typeface="+mj-lt"/>
              <a:buAutoNum type="arabicPeriod"/>
            </a:pPr>
            <a:r>
              <a:rPr lang="en-US" sz="3600" b="1" dirty="0"/>
              <a:t>Server receives the uploaded content.</a:t>
            </a:r>
            <a:endParaRPr lang="en-US" sz="3600" dirty="0"/>
          </a:p>
          <a:p>
            <a:endParaRPr lang="en-US" sz="3600" dirty="0"/>
          </a:p>
          <a:p>
            <a:endParaRPr lang="en-US" sz="3600" dirty="0"/>
          </a:p>
          <a:p>
            <a:endParaRPr lang="en-US" sz="1900" dirty="0"/>
          </a:p>
        </p:txBody>
      </p:sp>
      <p:pic>
        <p:nvPicPr>
          <p:cNvPr id="4" name="Picture 2" descr="A picture containing symbol, logo, graphics, emblem&#10;&#10;Description automatically generated">
            <a:extLst>
              <a:ext uri="{FF2B5EF4-FFF2-40B4-BE49-F238E27FC236}">
                <a16:creationId xmlns:a16="http://schemas.microsoft.com/office/drawing/2014/main" id="{C6FC0D82-DB85-647D-088B-DC1C95544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953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picture containing symbol, logo, graphics, emblem&#10;&#10;Description automatically generated">
            <a:extLst>
              <a:ext uri="{FF2B5EF4-FFF2-40B4-BE49-F238E27FC236}">
                <a16:creationId xmlns:a16="http://schemas.microsoft.com/office/drawing/2014/main" id="{19B26906-05E5-9719-6274-1AD7D91411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a:extLst>
              <a:ext uri="{FF2B5EF4-FFF2-40B4-BE49-F238E27FC236}">
                <a16:creationId xmlns:a16="http://schemas.microsoft.com/office/drawing/2014/main" id="{2A16FEC4-302F-9027-1314-052B1AA34184}"/>
              </a:ext>
            </a:extLst>
          </p:cNvPr>
          <p:cNvSpPr>
            <a:spLocks noGrp="1" noChangeArrowheads="1"/>
          </p:cNvSpPr>
          <p:nvPr>
            <p:ph idx="1"/>
          </p:nvPr>
        </p:nvSpPr>
        <p:spPr bwMode="auto">
          <a:xfrm>
            <a:off x="255588" y="553314"/>
            <a:ext cx="949490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6.Server stores content and prepares it for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 broadcasting.</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7.Server sends update signal to all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connected clients.</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sz="3600" b="1" dirty="0">
                <a:latin typeface="Arial" panose="020B0604020202020204" pitchFamily="34" charset="0"/>
              </a:rPr>
              <a:t>8.</a:t>
            </a:r>
            <a:r>
              <a:rPr kumimoji="0" lang="en-US" altLang="en-US" sz="3600" b="1" i="0" u="none" strike="noStrike" cap="none" normalizeH="0" baseline="0" dirty="0">
                <a:ln>
                  <a:noFill/>
                </a:ln>
                <a:solidFill>
                  <a:schemeClr val="tx1"/>
                </a:solidFill>
                <a:effectLst/>
                <a:latin typeface="Arial" panose="020B0604020202020204" pitchFamily="34" charset="0"/>
              </a:rPr>
              <a:t>Clients receive content and update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the display in real-time.</a:t>
            </a: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9.Repeat steps 4–8</a:t>
            </a:r>
            <a:r>
              <a:rPr kumimoji="0" lang="en-US" altLang="en-US" sz="3600" b="0" i="0" u="none" strike="noStrike" cap="none" normalizeH="0" baseline="0" dirty="0">
                <a:ln>
                  <a:noFill/>
                </a:ln>
                <a:solidFill>
                  <a:schemeClr val="tx1"/>
                </a:solidFill>
                <a:effectLst/>
                <a:latin typeface="Arial" panose="020B0604020202020204" pitchFamily="34" charset="0"/>
              </a:rPr>
              <a:t> for every new or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a:ln>
                  <a:noFill/>
                </a:ln>
                <a:solidFill>
                  <a:schemeClr val="tx1"/>
                </a:solidFill>
                <a:effectLst/>
                <a:latin typeface="Arial" panose="020B0604020202020204" pitchFamily="34" charset="0"/>
              </a:rPr>
              <a:t>modified content upload.</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1" i="0" u="none" strike="noStrike" cap="none" normalizeH="0" baseline="0" dirty="0">
                <a:ln>
                  <a:noFill/>
                </a:ln>
                <a:solidFill>
                  <a:schemeClr val="tx1"/>
                </a:solidFill>
                <a:effectLst/>
                <a:latin typeface="Arial" panose="020B0604020202020204" pitchFamily="34" charset="0"/>
              </a:rPr>
              <a:t>10.Stop the server</a:t>
            </a:r>
            <a:r>
              <a:rPr kumimoji="0" lang="en-US" altLang="en-US" sz="3600" b="0" i="0" u="none" strike="noStrike" cap="none" normalizeH="0" baseline="0" dirty="0">
                <a:ln>
                  <a:noFill/>
                </a:ln>
                <a:solidFill>
                  <a:schemeClr val="tx1"/>
                </a:solidFill>
                <a:effectLst/>
                <a:latin typeface="Arial" panose="020B0604020202020204" pitchFamily="34" charset="0"/>
              </a:rPr>
              <a:t> when the system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a:ln>
                  <a:noFill/>
                </a:ln>
                <a:solidFill>
                  <a:schemeClr val="tx1"/>
                </a:solidFill>
                <a:effectLst/>
                <a:latin typeface="Arial" panose="020B0604020202020204" pitchFamily="34" charset="0"/>
              </a:rPr>
              <a:t> is no longer in use.</a:t>
            </a:r>
          </a:p>
        </p:txBody>
      </p:sp>
    </p:spTree>
    <p:extLst>
      <p:ext uri="{BB962C8B-B14F-4D97-AF65-F5344CB8AC3E}">
        <p14:creationId xmlns:p14="http://schemas.microsoft.com/office/powerpoint/2010/main" val="2575212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F060-43FF-2B01-A798-128D0732BF17}"/>
              </a:ext>
            </a:extLst>
          </p:cNvPr>
          <p:cNvSpPr>
            <a:spLocks noGrp="1"/>
          </p:cNvSpPr>
          <p:nvPr>
            <p:ph type="title"/>
          </p:nvPr>
        </p:nvSpPr>
        <p:spPr/>
        <p:txBody>
          <a:bodyPr>
            <a:normAutofit/>
          </a:bodyPr>
          <a:lstStyle/>
          <a:p>
            <a:r>
              <a:rPr lang="en-IN" sz="6600">
                <a:latin typeface="Artifakt Element Heavy" panose="020B0B03050000020004" pitchFamily="34" charset="0"/>
                <a:ea typeface="Artifakt Element Heavy" panose="020B0B03050000020004" pitchFamily="34" charset="0"/>
              </a:rPr>
              <a:t>IMPLEMENTATION </a:t>
            </a:r>
            <a:r>
              <a:rPr lang="en-IN" sz="6600" dirty="0">
                <a:latin typeface="Artifakt Element Heavy" panose="020B0B03050000020004" pitchFamily="34" charset="0"/>
                <a:ea typeface="Artifakt Element Heavy" panose="020B0B03050000020004" pitchFamily="34" charset="0"/>
              </a:rPr>
              <a:t>PLAN</a:t>
            </a:r>
          </a:p>
        </p:txBody>
      </p:sp>
      <p:graphicFrame>
        <p:nvGraphicFramePr>
          <p:cNvPr id="6" name="Content Placeholder 5">
            <a:extLst>
              <a:ext uri="{FF2B5EF4-FFF2-40B4-BE49-F238E27FC236}">
                <a16:creationId xmlns:a16="http://schemas.microsoft.com/office/drawing/2014/main" id="{042F000E-1CC0-E104-92A2-C5AC3C9D4813}"/>
              </a:ext>
            </a:extLst>
          </p:cNvPr>
          <p:cNvGraphicFramePr>
            <a:graphicFrameLocks noGrp="1"/>
          </p:cNvGraphicFramePr>
          <p:nvPr>
            <p:ph idx="1"/>
            <p:extLst>
              <p:ext uri="{D42A27DB-BD31-4B8C-83A1-F6EECF244321}">
                <p14:modId xmlns:p14="http://schemas.microsoft.com/office/powerpoint/2010/main" val="1527950101"/>
              </p:ext>
            </p:extLst>
          </p:nvPr>
        </p:nvGraphicFramePr>
        <p:xfrm>
          <a:off x="109728" y="1417320"/>
          <a:ext cx="11969496" cy="53035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5007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07B2-EA3C-E60D-45F7-A814237996B5}"/>
              </a:ext>
            </a:extLst>
          </p:cNvPr>
          <p:cNvSpPr>
            <a:spLocks noGrp="1"/>
          </p:cNvSpPr>
          <p:nvPr>
            <p:ph type="title"/>
          </p:nvPr>
        </p:nvSpPr>
        <p:spPr>
          <a:xfrm>
            <a:off x="474058" y="348940"/>
            <a:ext cx="9438038" cy="1170750"/>
          </a:xfrm>
        </p:spPr>
        <p:txBody>
          <a:bodyPr>
            <a:noAutofit/>
          </a:bodyPr>
          <a:lstStyle/>
          <a:p>
            <a:r>
              <a:rPr lang="en-IN" sz="6000" dirty="0">
                <a:latin typeface="Artifakt Element Heavy" panose="020B0B03050000020004" pitchFamily="34" charset="0"/>
                <a:ea typeface="Artifakt Element Heavy" panose="020B0B03050000020004" pitchFamily="34" charset="0"/>
              </a:rPr>
              <a:t>SOFTWARE / HARDWARE REQUIREMENTS</a:t>
            </a:r>
          </a:p>
        </p:txBody>
      </p:sp>
      <p:pic>
        <p:nvPicPr>
          <p:cNvPr id="4" name="Picture 2" descr="A picture containing symbol, logo, graphics, emblem&#10;&#10;Description automatically generated">
            <a:extLst>
              <a:ext uri="{FF2B5EF4-FFF2-40B4-BE49-F238E27FC236}">
                <a16:creationId xmlns:a16="http://schemas.microsoft.com/office/drawing/2014/main" id="{C5CEA8EF-5A7C-46E1-5CF8-E334D9C036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42B5EF-13EF-77CF-6DB1-08FD2DDE7496}"/>
              </a:ext>
            </a:extLst>
          </p:cNvPr>
          <p:cNvSpPr txBox="1"/>
          <p:nvPr/>
        </p:nvSpPr>
        <p:spPr>
          <a:xfrm>
            <a:off x="6579014" y="1757434"/>
            <a:ext cx="5422392" cy="2339102"/>
          </a:xfrm>
          <a:prstGeom prst="rect">
            <a:avLst/>
          </a:prstGeom>
          <a:noFill/>
        </p:spPr>
        <p:txBody>
          <a:bodyPr wrap="square" rtlCol="0">
            <a:spAutoFit/>
          </a:bodyPr>
          <a:lstStyle/>
          <a:p>
            <a:pPr>
              <a:buNone/>
            </a:pPr>
            <a:r>
              <a:rPr lang="en-US" sz="1600" b="1" dirty="0"/>
              <a:t>Hardware Requirements</a:t>
            </a:r>
          </a:p>
          <a:p>
            <a:pPr>
              <a:buFont typeface="Arial" panose="020B0604020202020204" pitchFamily="34" charset="0"/>
              <a:buChar char="•"/>
            </a:pPr>
            <a:r>
              <a:rPr lang="en-US" sz="1600" b="1" dirty="0"/>
              <a:t>Display Device:</a:t>
            </a:r>
            <a:r>
              <a:rPr lang="en-US" sz="1600" dirty="0"/>
              <a:t> LED TV / Monitor with HDMI input</a:t>
            </a:r>
          </a:p>
          <a:p>
            <a:pPr>
              <a:buFont typeface="Arial" panose="020B0604020202020204" pitchFamily="34" charset="0"/>
              <a:buChar char="•"/>
            </a:pPr>
            <a:r>
              <a:rPr lang="en-US" sz="1600" b="1" dirty="0"/>
              <a:t>Client Device:</a:t>
            </a:r>
            <a:r>
              <a:rPr lang="en-US" sz="1600" dirty="0"/>
              <a:t> Computer/Raspberry Pi/Android Box connected to display</a:t>
            </a:r>
          </a:p>
          <a:p>
            <a:pPr>
              <a:buFont typeface="Arial" panose="020B0604020202020204" pitchFamily="34" charset="0"/>
              <a:buChar char="•"/>
            </a:pPr>
            <a:r>
              <a:rPr lang="en-US" sz="1600" b="1" dirty="0"/>
              <a:t>Server Machine:</a:t>
            </a:r>
            <a:r>
              <a:rPr lang="en-US" sz="1600" dirty="0"/>
              <a:t> Any system capable of running Java applications</a:t>
            </a:r>
          </a:p>
          <a:p>
            <a:pPr>
              <a:buFont typeface="Arial" panose="020B0604020202020204" pitchFamily="34" charset="0"/>
              <a:buChar char="•"/>
            </a:pPr>
            <a:r>
              <a:rPr lang="en-US" sz="1600" b="1" dirty="0"/>
              <a:t>Network Setup:</a:t>
            </a:r>
            <a:r>
              <a:rPr lang="en-US" sz="1600" dirty="0"/>
              <a:t> LAN or Wi-Fi for client-server communication</a:t>
            </a:r>
          </a:p>
          <a:p>
            <a:pPr>
              <a:buFont typeface="Arial" panose="020B0604020202020204" pitchFamily="34" charset="0"/>
              <a:buChar char="•"/>
            </a:pPr>
            <a:r>
              <a:rPr lang="en-US" sz="1600" b="1" dirty="0"/>
              <a:t>Storage:</a:t>
            </a:r>
            <a:r>
              <a:rPr lang="en-US" sz="1600" dirty="0"/>
              <a:t> Sufficient local/server storage for media files</a:t>
            </a:r>
          </a:p>
          <a:p>
            <a:endParaRPr lang="en-US" dirty="0"/>
          </a:p>
        </p:txBody>
      </p:sp>
      <p:sp>
        <p:nvSpPr>
          <p:cNvPr id="7" name="Rectangle 2">
            <a:extLst>
              <a:ext uri="{FF2B5EF4-FFF2-40B4-BE49-F238E27FC236}">
                <a16:creationId xmlns:a16="http://schemas.microsoft.com/office/drawing/2014/main" id="{2BBD3B02-0111-1524-7B9F-D989610DC449}"/>
              </a:ext>
            </a:extLst>
          </p:cNvPr>
          <p:cNvSpPr>
            <a:spLocks noGrp="1" noChangeArrowheads="1"/>
          </p:cNvSpPr>
          <p:nvPr>
            <p:ph idx="1"/>
          </p:nvPr>
        </p:nvSpPr>
        <p:spPr bwMode="auto">
          <a:xfrm>
            <a:off x="0" y="1519690"/>
            <a:ext cx="6465103"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sz="1600" b="1" dirty="0"/>
              <a:t> Software Requirements</a:t>
            </a:r>
            <a:endParaRPr lang="en-US" altLang="en-US" sz="16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Server</a:t>
            </a:r>
            <a:r>
              <a:rPr kumimoji="0" lang="en-US" altLang="en-US" sz="1600" b="0" i="0" u="none" strike="noStrike" cap="none" normalizeH="0" baseline="0" dirty="0">
                <a:ln>
                  <a:noFill/>
                </a:ln>
                <a:solidFill>
                  <a:schemeClr val="tx1"/>
                </a:solidFill>
                <a:effectLst/>
                <a:latin typeface="Arial" panose="020B0604020202020204" pitchFamily="34" charset="0"/>
              </a:rPr>
              <a:t>: Ubuntu / Windows / macOS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Client</a:t>
            </a:r>
            <a:r>
              <a:rPr kumimoji="0" lang="en-US" altLang="en-US" sz="1600" b="0" i="0" u="none" strike="noStrike" cap="none" normalizeH="0" baseline="0" dirty="0">
                <a:ln>
                  <a:noFill/>
                </a:ln>
                <a:solidFill>
                  <a:schemeClr val="tx1"/>
                </a:solidFill>
                <a:effectLst/>
                <a:latin typeface="Arial" panose="020B0604020202020204" pitchFamily="34" charset="0"/>
              </a:rPr>
              <a:t>: Any OS with a modern web browser (Chrome, Firefox, Edge)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Framework</a:t>
            </a:r>
            <a:r>
              <a:rPr kumimoji="0" lang="en-US" altLang="en-US" sz="1600" b="0" i="0" u="none" strike="noStrike" cap="none" normalizeH="0" baseline="0" dirty="0">
                <a:ln>
                  <a:noFill/>
                </a:ln>
                <a:solidFill>
                  <a:schemeClr val="tx1"/>
                </a:solidFill>
                <a:effectLst/>
                <a:latin typeface="Arial" panose="020B0604020202020204" pitchFamily="34" charset="0"/>
              </a:rPr>
              <a:t>: Flask / Django (for serving content &amp;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Socket Communication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Unicode MS"/>
              </a:rPr>
              <a:t>socket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err="1">
                <a:ln>
                  <a:noFill/>
                </a:ln>
                <a:solidFill>
                  <a:schemeClr val="tx1"/>
                </a:solidFill>
                <a:effectLst/>
                <a:latin typeface="Arial Unicode MS"/>
              </a:rPr>
              <a:t>websockets</a:t>
            </a:r>
            <a:r>
              <a:rPr kumimoji="0" lang="en-US" altLang="en-US" sz="1600" b="0" i="0" u="none" strike="noStrike" cap="none" normalizeH="0" baseline="0" dirty="0">
                <a:ln>
                  <a:noFill/>
                </a:ln>
                <a:solidFill>
                  <a:schemeClr val="tx1"/>
                </a:solidFill>
                <a:effectLst/>
              </a:rPr>
              <a:t>, or </a:t>
            </a:r>
            <a:r>
              <a:rPr kumimoji="0" lang="en-US" altLang="en-US" sz="1600" b="0" i="0" u="none" strike="noStrike" cap="none" normalizeH="0" baseline="0" dirty="0">
                <a:ln>
                  <a:noFill/>
                </a:ln>
                <a:solidFill>
                  <a:schemeClr val="tx1"/>
                </a:solidFill>
                <a:effectLst/>
                <a:latin typeface="Arial Unicode MS"/>
              </a:rPr>
              <a:t>Flask-</a:t>
            </a:r>
            <a:r>
              <a:rPr kumimoji="0" lang="en-US" altLang="en-US" sz="1600" b="0" i="0" u="none" strike="noStrike" cap="none" normalizeH="0" baseline="0" dirty="0" err="1">
                <a:ln>
                  <a:noFill/>
                </a:ln>
                <a:solidFill>
                  <a:schemeClr val="tx1"/>
                </a:solidFill>
                <a:effectLst/>
                <a:latin typeface="Arial Unicode MS"/>
              </a:rPr>
              <a:t>SocketIO</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Media Handling: </a:t>
            </a:r>
            <a:r>
              <a:rPr kumimoji="0" lang="en-US" altLang="en-US" sz="1600" b="0" i="0" u="none" strike="noStrike" cap="none" normalizeH="0" baseline="0" dirty="0">
                <a:ln>
                  <a:noFill/>
                </a:ln>
                <a:solidFill>
                  <a:schemeClr val="tx1"/>
                </a:solidFill>
                <a:effectLst/>
                <a:latin typeface="Arial Unicode MS"/>
              </a:rPr>
              <a:t>Pillow</a:t>
            </a:r>
            <a:r>
              <a:rPr kumimoji="0" lang="en-US" altLang="en-US" sz="1600" b="0" i="0" u="none" strike="noStrike" cap="none" normalizeH="0" baseline="0" dirty="0">
                <a:ln>
                  <a:noFill/>
                </a:ln>
                <a:solidFill>
                  <a:schemeClr val="tx1"/>
                </a:solidFill>
                <a:effectLst/>
              </a:rPr>
              <a:t> (for images), </a:t>
            </a:r>
            <a:r>
              <a:rPr kumimoji="0" lang="en-US" altLang="en-US" sz="1600" b="0" i="0" u="none" strike="noStrike" cap="none" normalizeH="0" baseline="0" dirty="0">
                <a:ln>
                  <a:noFill/>
                </a:ln>
                <a:solidFill>
                  <a:schemeClr val="tx1"/>
                </a:solidFill>
                <a:effectLst/>
                <a:latin typeface="Arial Unicode MS"/>
              </a:rPr>
              <a:t>OpenCV</a:t>
            </a:r>
            <a:r>
              <a:rPr kumimoji="0" lang="en-US" altLang="en-US" sz="1600" b="0" i="0" u="none" strike="noStrike" cap="none" normalizeH="0" baseline="0" dirty="0">
                <a:ln>
                  <a:noFill/>
                </a:ln>
                <a:solidFill>
                  <a:schemeClr val="tx1"/>
                </a:solidFill>
                <a:effectLst/>
              </a:rPr>
              <a:t> or </a:t>
            </a:r>
            <a:r>
              <a:rPr kumimoji="0" lang="en-US" altLang="en-US" sz="1600" b="0" i="0" u="none" strike="noStrike" cap="none" normalizeH="0" baseline="0" dirty="0" err="1">
                <a:ln>
                  <a:noFill/>
                </a:ln>
                <a:solidFill>
                  <a:schemeClr val="tx1"/>
                </a:solidFill>
                <a:effectLst/>
                <a:latin typeface="Arial Unicode MS"/>
              </a:rPr>
              <a:t>ffmpeg</a:t>
            </a:r>
            <a:r>
              <a:rPr kumimoji="0" lang="en-US" altLang="en-US" sz="1600" b="0" i="0" u="none" strike="noStrike" cap="none" normalizeH="0" baseline="0" dirty="0">
                <a:ln>
                  <a:noFill/>
                </a:ln>
                <a:solidFill>
                  <a:schemeClr val="tx1"/>
                </a:solidFill>
                <a:effectLst/>
              </a:rPr>
              <a:t> (for video)</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HTML/CSS/JavaScript</a:t>
            </a:r>
            <a:r>
              <a:rPr kumimoji="0" lang="en-US" altLang="en-US" sz="1600" b="0" i="0" u="none" strike="noStrike" cap="none" normalizeH="0" baseline="0" dirty="0">
                <a:ln>
                  <a:noFill/>
                </a:ln>
                <a:solidFill>
                  <a:schemeClr val="tx1"/>
                </a:solidFill>
                <a:effectLst/>
                <a:latin typeface="Arial" panose="020B0604020202020204" pitchFamily="34" charset="0"/>
              </a:rPr>
              <a:t> based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Media Display: </a:t>
            </a:r>
            <a:r>
              <a:rPr kumimoji="0" lang="en-US" altLang="en-US" sz="1600" b="0" i="0" u="none" strike="noStrike" cap="none" normalizeH="0" baseline="0" dirty="0">
                <a:ln>
                  <a:noFill/>
                </a:ln>
                <a:solidFill>
                  <a:schemeClr val="tx1"/>
                </a:solidFill>
                <a:effectLst/>
                <a:latin typeface="Arial Unicode MS"/>
              </a:rPr>
              <a:t>&lt;</a:t>
            </a:r>
            <a:r>
              <a:rPr kumimoji="0" lang="en-US" altLang="en-US" sz="1600" b="0" i="0" u="none" strike="noStrike" cap="none" normalizeH="0" baseline="0" dirty="0" err="1">
                <a:ln>
                  <a:noFill/>
                </a:ln>
                <a:solidFill>
                  <a:schemeClr val="tx1"/>
                </a:solidFill>
                <a:effectLst/>
                <a:latin typeface="Arial Unicode MS"/>
              </a:rPr>
              <a:t>img</a:t>
            </a:r>
            <a:r>
              <a:rPr kumimoji="0" lang="en-US" altLang="en-US" sz="1600" b="0" i="0" u="none" strike="noStrike" cap="none" normalizeH="0" baseline="0" dirty="0">
                <a:ln>
                  <a:noFill/>
                </a:ln>
                <a:solidFill>
                  <a:schemeClr val="tx1"/>
                </a:solidFill>
                <a:effectLst/>
                <a:latin typeface="Arial Unicode MS"/>
              </a:rPr>
              <a:t>&gt;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&lt;video&gt;</a:t>
            </a:r>
            <a:r>
              <a:rPr kumimoji="0" lang="en-US" altLang="en-US" sz="1600" b="0" i="0" u="none" strike="noStrike" cap="none" normalizeH="0" baseline="0" dirty="0">
                <a:ln>
                  <a:noFill/>
                </a:ln>
                <a:solidFill>
                  <a:schemeClr val="tx1"/>
                </a:solidFill>
                <a:effectLst/>
              </a:rPr>
              <a:t>, </a:t>
            </a:r>
            <a:r>
              <a:rPr kumimoji="0" lang="en-US" altLang="en-US" sz="1600" b="0" i="0" u="none" strike="noStrike" cap="none" normalizeH="0" baseline="0" dirty="0">
                <a:ln>
                  <a:noFill/>
                </a:ln>
                <a:solidFill>
                  <a:schemeClr val="tx1"/>
                </a:solidFill>
                <a:effectLst/>
                <a:latin typeface="Arial Unicode MS"/>
              </a:rPr>
              <a:t>&lt;marquee&gt;</a:t>
            </a:r>
            <a:r>
              <a:rPr kumimoji="0" lang="en-US" altLang="en-US" sz="1600" b="0" i="0" u="none" strike="noStrike" cap="none" normalizeH="0" baseline="0" dirty="0">
                <a:ln>
                  <a:noFill/>
                </a:ln>
                <a:solidFill>
                  <a:schemeClr val="tx1"/>
                </a:solidFill>
                <a:effectLst/>
              </a:rPr>
              <a:t> (text scrolling),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rPr>
              <a:t>or CSS animations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Responsive design for different screen sizes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SQLite / MySQL / PostgreSQL</a:t>
            </a:r>
            <a:r>
              <a:rPr kumimoji="0" lang="en-US" altLang="en-US" sz="1600" b="0" i="0" u="none" strike="noStrike" cap="none" normalizeH="0" baseline="0" dirty="0">
                <a:ln>
                  <a:noFill/>
                </a:ln>
                <a:solidFill>
                  <a:schemeClr val="tx1"/>
                </a:solidFill>
                <a:effectLst/>
                <a:latin typeface="Arial" panose="020B0604020202020204" pitchFamily="34" charset="0"/>
              </a:rPr>
              <a:t> for content metadata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 and user management</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VS Code / PyCharm</a:t>
            </a:r>
            <a:r>
              <a:rPr kumimoji="0" lang="en-US" altLang="en-US" sz="1600" b="0" i="0" u="none" strike="noStrike" cap="none" normalizeH="0" baseline="0" dirty="0">
                <a:ln>
                  <a:noFill/>
                </a:ln>
                <a:solidFill>
                  <a:schemeClr val="tx1"/>
                </a:solidFill>
                <a:effectLst/>
                <a:latin typeface="Arial" panose="020B0604020202020204" pitchFamily="34" charset="0"/>
              </a:rPr>
              <a:t> for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Nginx / Apache</a:t>
            </a:r>
            <a:r>
              <a:rPr kumimoji="0" lang="en-US" altLang="en-US" sz="1600" b="0" i="0" u="none" strike="noStrike" cap="none" normalizeH="0" baseline="0" dirty="0">
                <a:ln>
                  <a:noFill/>
                </a:ln>
                <a:solidFill>
                  <a:schemeClr val="tx1"/>
                </a:solidFill>
                <a:effectLst/>
                <a:latin typeface="Arial" panose="020B0604020202020204" pitchFamily="34" charset="0"/>
              </a:rPr>
              <a:t> (for production deployment if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a:t>
            </a:r>
            <a:r>
              <a:rPr kumimoji="0" lang="en-US" altLang="en-US" sz="1600" b="0" i="0" u="none" strike="noStrike" cap="none" normalizeH="0" baseline="0" dirty="0">
                <a:ln>
                  <a:noFill/>
                </a:ln>
                <a:solidFill>
                  <a:schemeClr val="tx1"/>
                </a:solidFill>
                <a:effectLst/>
                <a:latin typeface="Arial" panose="020B0604020202020204" pitchFamily="34" charset="0"/>
              </a:rPr>
              <a:t> for version control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2031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4FABF-FC73-A94F-7A2C-683B1CA44A5A}"/>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FUTURE SCOPE</a:t>
            </a:r>
          </a:p>
        </p:txBody>
      </p:sp>
      <p:sp>
        <p:nvSpPr>
          <p:cNvPr id="3" name="Content Placeholder 2">
            <a:extLst>
              <a:ext uri="{FF2B5EF4-FFF2-40B4-BE49-F238E27FC236}">
                <a16:creationId xmlns:a16="http://schemas.microsoft.com/office/drawing/2014/main" id="{118026A4-12AB-B324-1F9A-7520D5CC52A9}"/>
              </a:ext>
            </a:extLst>
          </p:cNvPr>
          <p:cNvSpPr>
            <a:spLocks noGrp="1"/>
          </p:cNvSpPr>
          <p:nvPr>
            <p:ph idx="1"/>
          </p:nvPr>
        </p:nvSpPr>
        <p:spPr/>
        <p:txBody>
          <a:bodyPr>
            <a:normAutofit fontScale="62500" lnSpcReduction="20000"/>
          </a:bodyPr>
          <a:lstStyle/>
          <a:p>
            <a:pPr>
              <a:buFont typeface="Arial" panose="020B0604020202020204" pitchFamily="34" charset="0"/>
              <a:buChar char="•"/>
            </a:pPr>
            <a:r>
              <a:rPr lang="en-US" b="1" dirty="0"/>
              <a:t>Integration with Cloud Services:</a:t>
            </a:r>
            <a:br>
              <a:rPr lang="en-US" dirty="0"/>
            </a:br>
            <a:r>
              <a:rPr lang="en-US" dirty="0"/>
              <a:t>Moving to cloud-based storage and management could allow content access from anywhere, enabling easy updates across remote locations.</a:t>
            </a:r>
          </a:p>
          <a:p>
            <a:pPr>
              <a:buFont typeface="Arial" panose="020B0604020202020204" pitchFamily="34" charset="0"/>
              <a:buChar char="•"/>
            </a:pPr>
            <a:r>
              <a:rPr lang="en-US" b="1" dirty="0"/>
              <a:t>AI-Powered Content Management:</a:t>
            </a:r>
            <a:br>
              <a:rPr lang="en-US" dirty="0"/>
            </a:br>
            <a:r>
              <a:rPr lang="en-US" dirty="0"/>
              <a:t>Incorporating AI to analyze audience demographics and adapt content in real time (e.g., targeted advertisements) could improve user engagement.</a:t>
            </a:r>
          </a:p>
          <a:p>
            <a:pPr>
              <a:buFont typeface="Arial" panose="020B0604020202020204" pitchFamily="34" charset="0"/>
              <a:buChar char="•"/>
            </a:pPr>
            <a:r>
              <a:rPr lang="en-US" b="1" dirty="0"/>
              <a:t>Interactive Features:</a:t>
            </a:r>
            <a:br>
              <a:rPr lang="en-US" dirty="0"/>
            </a:br>
            <a:r>
              <a:rPr lang="en-US" dirty="0"/>
              <a:t>Adding touch or gesture-based interactivity to displays for more engaging user experiences (e.g., product browsing or information querying).</a:t>
            </a:r>
          </a:p>
          <a:p>
            <a:pPr>
              <a:buFont typeface="Arial" panose="020B0604020202020204" pitchFamily="34" charset="0"/>
              <a:buChar char="•"/>
            </a:pPr>
            <a:r>
              <a:rPr lang="en-US" b="1" dirty="0"/>
              <a:t>Multi-Language Support:</a:t>
            </a:r>
            <a:br>
              <a:rPr lang="en-US" dirty="0"/>
            </a:br>
            <a:r>
              <a:rPr lang="en-US" dirty="0"/>
              <a:t>Expanding the system to support multiple languages would make it suitable for international markets and diverse user bases.</a:t>
            </a:r>
          </a:p>
          <a:p>
            <a:pPr>
              <a:buFont typeface="Arial" panose="020B0604020202020204" pitchFamily="34" charset="0"/>
              <a:buChar char="•"/>
            </a:pPr>
            <a:r>
              <a:rPr lang="en-US" b="1" dirty="0"/>
              <a:t>Integration with IoT Devices:</a:t>
            </a:r>
            <a:br>
              <a:rPr lang="en-US" dirty="0"/>
            </a:br>
            <a:r>
              <a:rPr lang="en-US" dirty="0"/>
              <a:t>Connecting to sensors (like motion detectors or facial recognition) could trigger dynamic content changes based on environmental or audience conditions.</a:t>
            </a:r>
          </a:p>
          <a:p>
            <a:pPr>
              <a:buFont typeface="Arial" panose="020B0604020202020204" pitchFamily="34" charset="0"/>
              <a:buChar char="•"/>
            </a:pPr>
            <a:r>
              <a:rPr lang="en-US" b="1" dirty="0"/>
              <a:t>Advanced Scheduling &amp; Analytics:</a:t>
            </a:r>
            <a:br>
              <a:rPr lang="en-US" dirty="0"/>
            </a:br>
            <a:r>
              <a:rPr lang="en-US" dirty="0"/>
              <a:t>Enhancing content scheduling features, and adding analytics to track audience engagement, could help in making data-driven content decisions.</a:t>
            </a:r>
          </a:p>
        </p:txBody>
      </p:sp>
      <p:pic>
        <p:nvPicPr>
          <p:cNvPr id="4" name="Picture 2" descr="A picture containing symbol, logo, graphics, emblem&#10;&#10;Description automatically generated">
            <a:extLst>
              <a:ext uri="{FF2B5EF4-FFF2-40B4-BE49-F238E27FC236}">
                <a16:creationId xmlns:a16="http://schemas.microsoft.com/office/drawing/2014/main" id="{9F1EDC07-8FB5-E659-6F6A-B00CCAC2C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865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4D60-7C0A-A86C-84F2-A91B5105541D}"/>
              </a:ext>
            </a:extLst>
          </p:cNvPr>
          <p:cNvSpPr>
            <a:spLocks noGrp="1"/>
          </p:cNvSpPr>
          <p:nvPr>
            <p:ph type="title"/>
          </p:nvPr>
        </p:nvSpPr>
        <p:spPr/>
        <p:txBody>
          <a:bodyPr>
            <a:normAutofit/>
          </a:bodyPr>
          <a:lstStyle/>
          <a:p>
            <a:r>
              <a:rPr lang="en-IN" sz="6600" dirty="0">
                <a:latin typeface="Artifakt Element Heavy" panose="020B0B03050000020004" pitchFamily="34" charset="0"/>
                <a:ea typeface="Artifakt Element Heavy" panose="020B0B03050000020004" pitchFamily="34" charset="0"/>
              </a:rPr>
              <a:t>CONCLUSION</a:t>
            </a:r>
          </a:p>
        </p:txBody>
      </p:sp>
      <p:sp>
        <p:nvSpPr>
          <p:cNvPr id="3" name="Content Placeholder 2">
            <a:extLst>
              <a:ext uri="{FF2B5EF4-FFF2-40B4-BE49-F238E27FC236}">
                <a16:creationId xmlns:a16="http://schemas.microsoft.com/office/drawing/2014/main" id="{E8B0AB9E-403A-EDCF-5CF1-00F1B8ED2BFD}"/>
              </a:ext>
            </a:extLst>
          </p:cNvPr>
          <p:cNvSpPr>
            <a:spLocks noGrp="1"/>
          </p:cNvSpPr>
          <p:nvPr>
            <p:ph idx="1"/>
          </p:nvPr>
        </p:nvSpPr>
        <p:spPr/>
        <p:txBody>
          <a:bodyPr>
            <a:noAutofit/>
          </a:bodyPr>
          <a:lstStyle/>
          <a:p>
            <a:pPr marL="0" indent="0">
              <a:buNone/>
            </a:pPr>
            <a:r>
              <a:rPr lang="en-US" sz="3200" dirty="0"/>
              <a:t>The Real-Time Digital Signage System offers a modern, efficient, and scalable solution for dynamic content delivery. By enabling instant updates, remote management, and support for various media formats, the system improves communication and reduces manual intervention. With potential for future enhancements like AI integration, cloud support, and interactive features, this system is poised to revolutionize content management across diverse industries, making it a valuable tool for advertising, announcements, and information sharing.</a:t>
            </a:r>
            <a:endParaRPr lang="en-IN" sz="3200" dirty="0"/>
          </a:p>
        </p:txBody>
      </p:sp>
      <p:pic>
        <p:nvPicPr>
          <p:cNvPr id="4" name="Picture 2" descr="A picture containing symbol, logo, graphics, emblem&#10;&#10;Description automatically generated">
            <a:extLst>
              <a:ext uri="{FF2B5EF4-FFF2-40B4-BE49-F238E27FC236}">
                <a16:creationId xmlns:a16="http://schemas.microsoft.com/office/drawing/2014/main" id="{22105BF6-3949-AF12-B510-B63E4EB9BB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83986" y="0"/>
            <a:ext cx="1408014" cy="1408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539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AAE9FE-8C9B-B0FD-5824-B765CD7C5B74}"/>
              </a:ext>
            </a:extLst>
          </p:cNvPr>
          <p:cNvSpPr>
            <a:spLocks noGrp="1"/>
          </p:cNvSpPr>
          <p:nvPr>
            <p:ph idx="1"/>
          </p:nvPr>
        </p:nvSpPr>
        <p:spPr>
          <a:xfrm>
            <a:off x="838200" y="404602"/>
            <a:ext cx="10515600" cy="5772361"/>
          </a:xfrm>
        </p:spPr>
        <p:txBody>
          <a:bodyPr>
            <a:normAutofit/>
          </a:bodyPr>
          <a:lstStyle/>
          <a:p>
            <a:pPr marL="0" indent="0" rtl="0" fontAlgn="base">
              <a:buNone/>
            </a:pPr>
            <a:r>
              <a:rPr lang="en-US" sz="6600" b="1" i="0" dirty="0">
                <a:solidFill>
                  <a:srgbClr val="000000"/>
                </a:solidFill>
                <a:effectLst/>
                <a:latin typeface="Artifakt Element Heavy" panose="020B0B03050000020004" pitchFamily="34" charset="0"/>
                <a:ea typeface="Artifakt Element Heavy" panose="020B0B03050000020004" pitchFamily="34" charset="0"/>
              </a:rPr>
              <a:t>REFERENCES</a:t>
            </a:r>
            <a:r>
              <a:rPr lang="en-US" sz="6600" b="0" i="0" dirty="0">
                <a:solidFill>
                  <a:srgbClr val="000000"/>
                </a:solidFill>
                <a:effectLst/>
                <a:latin typeface="Artifakt Element Heavy" panose="020B0B03050000020004" pitchFamily="34" charset="0"/>
                <a:ea typeface="Artifakt Element Heavy" panose="020B0B03050000020004" pitchFamily="34" charset="0"/>
              </a:rPr>
              <a:t> </a:t>
            </a:r>
          </a:p>
          <a:p>
            <a:pPr marL="0" indent="0" algn="l" rtl="0" fontAlgn="base">
              <a:buNone/>
            </a:pPr>
            <a:r>
              <a:rPr lang="en-US" sz="1800" b="1" i="0" dirty="0">
                <a:solidFill>
                  <a:srgbClr val="000000"/>
                </a:solidFill>
                <a:effectLst/>
                <a:latin typeface="Artifakt Element Heavy" panose="020B0B03050000020004" pitchFamily="34" charset="0"/>
                <a:ea typeface="Artifakt Element Heavy" panose="020B0B03050000020004" pitchFamily="34" charset="0"/>
              </a:rPr>
              <a:t>ASME standard </a:t>
            </a:r>
            <a:r>
              <a:rPr lang="en-US" sz="1800" b="0" i="0" dirty="0">
                <a:solidFill>
                  <a:srgbClr val="000000"/>
                </a:solidFill>
                <a:effectLst/>
                <a:latin typeface="Artifakt Element Heavy" panose="020B0B03050000020004" pitchFamily="34" charset="0"/>
                <a:ea typeface="Artifakt Element Heavy" panose="020B0B03050000020004" pitchFamily="34" charset="0"/>
              </a:rPr>
              <a:t> </a:t>
            </a:r>
            <a:endParaRPr lang="en-US" b="0" i="0" dirty="0">
              <a:solidFill>
                <a:srgbClr val="000000"/>
              </a:solidFill>
              <a:effectLst/>
              <a:latin typeface="Artifakt Element Heavy" panose="020B0B03050000020004" pitchFamily="34" charset="0"/>
              <a:ea typeface="Artifakt Element Heavy" panose="020B0B03050000020004" pitchFamily="34" charset="0"/>
            </a:endParaRPr>
          </a:p>
          <a:p>
            <a:pPr marL="0" indent="0" algn="l" rtl="0" fontAlgn="base">
              <a:buNone/>
            </a:pPr>
            <a:r>
              <a:rPr lang="en-US" sz="1800" b="1" dirty="0">
                <a:solidFill>
                  <a:srgbClr val="000000"/>
                </a:solidFill>
                <a:effectLst/>
                <a:latin typeface="Artifakt Element Black" panose="020B0A03050000020004" pitchFamily="34" charset="0"/>
                <a:ea typeface="Artifakt Element Black" panose="020B0A03050000020004" pitchFamily="34" charset="0"/>
              </a:rPr>
              <a:t>Book, </a:t>
            </a:r>
            <a:r>
              <a:rPr lang="en-US" sz="1800" b="0" dirty="0">
                <a:solidFill>
                  <a:srgbClr val="000000"/>
                </a:solidFill>
                <a:effectLst/>
                <a:latin typeface="Artifakt Element Black" panose="020B0A03050000020004" pitchFamily="34" charset="0"/>
                <a:ea typeface="Artifakt Element Black" panose="020B0A03050000020004" pitchFamily="34" charset="0"/>
              </a:rPr>
              <a:t> </a:t>
            </a:r>
            <a:endParaRPr lang="en-US" b="0" dirty="0">
              <a:solidFill>
                <a:srgbClr val="000000"/>
              </a:solidFill>
              <a:effectLst/>
              <a:latin typeface="Artifakt Element Black" panose="020B0A03050000020004" pitchFamily="34" charset="0"/>
              <a:ea typeface="Artifakt Element Black" panose="020B0A03050000020004" pitchFamily="34" charset="0"/>
            </a:endParaRPr>
          </a:p>
          <a:p>
            <a:pPr algn="l" rtl="0" fontAlgn="base"/>
            <a:r>
              <a:rPr lang="en-US" sz="1800" b="0" i="0" dirty="0">
                <a:solidFill>
                  <a:srgbClr val="000000"/>
                </a:solidFill>
                <a:effectLst/>
              </a:rPr>
              <a:t>Bloch, J., 2018, </a:t>
            </a:r>
            <a:r>
              <a:rPr lang="en-US" sz="1800" b="0" i="1" dirty="0">
                <a:solidFill>
                  <a:srgbClr val="000000"/>
                </a:solidFill>
                <a:effectLst/>
              </a:rPr>
              <a:t>Effective Java</a:t>
            </a:r>
            <a:r>
              <a:rPr lang="en-US" sz="1800" b="0" i="0" dirty="0">
                <a:solidFill>
                  <a:srgbClr val="000000"/>
                </a:solidFill>
                <a:effectLst/>
              </a:rPr>
              <a:t>, 3rd ed., Addison-Wesley, Boston, MA. </a:t>
            </a:r>
            <a:endParaRPr lang="en-US" b="0" i="0" dirty="0">
              <a:solidFill>
                <a:srgbClr val="000000"/>
              </a:solidFill>
              <a:effectLst/>
            </a:endParaRPr>
          </a:p>
          <a:p>
            <a:pPr algn="l" rtl="0" fontAlgn="base"/>
            <a:r>
              <a:rPr lang="en-US" sz="1800" b="0" i="0" dirty="0">
                <a:solidFill>
                  <a:srgbClr val="000000"/>
                </a:solidFill>
                <a:effectLst/>
              </a:rPr>
              <a:t>Eckel, B., 2006, </a:t>
            </a:r>
            <a:r>
              <a:rPr lang="en-US" sz="1800" b="0" i="1" dirty="0">
                <a:solidFill>
                  <a:srgbClr val="000000"/>
                </a:solidFill>
                <a:effectLst/>
              </a:rPr>
              <a:t>Thinking in Java</a:t>
            </a:r>
            <a:r>
              <a:rPr lang="en-US" sz="1800" b="0" i="0" dirty="0">
                <a:solidFill>
                  <a:srgbClr val="000000"/>
                </a:solidFill>
                <a:effectLst/>
              </a:rPr>
              <a:t>, 4th ed., Prentice Hall, Upper Saddle River, NJ. </a:t>
            </a:r>
            <a:endParaRPr lang="en-US" b="0" i="0" dirty="0">
              <a:solidFill>
                <a:srgbClr val="000000"/>
              </a:solidFill>
              <a:effectLst/>
            </a:endParaRPr>
          </a:p>
          <a:p>
            <a:pPr algn="l" rtl="0" fontAlgn="base"/>
            <a:r>
              <a:rPr lang="en-US" sz="1800" b="0" i="0" dirty="0">
                <a:solidFill>
                  <a:srgbClr val="000000"/>
                </a:solidFill>
                <a:effectLst/>
              </a:rPr>
              <a:t>Beck, K., et al., 2001, "Manifesto for Agile Software Development," accessed Oct. 2, 2024, </a:t>
            </a:r>
            <a:endParaRPr lang="en-US" b="0" i="0" dirty="0">
              <a:solidFill>
                <a:srgbClr val="000000"/>
              </a:solidFill>
              <a:effectLst/>
            </a:endParaRPr>
          </a:p>
          <a:p>
            <a:pPr marL="0" indent="0" algn="l" rtl="0" fontAlgn="base">
              <a:buNone/>
            </a:pPr>
            <a:r>
              <a:rPr lang="en-US" sz="1800" b="1" i="0" dirty="0">
                <a:solidFill>
                  <a:srgbClr val="000000"/>
                </a:solidFill>
                <a:effectLst/>
                <a:latin typeface="Artifakt Element Heavy" panose="020B0B03050000020004" pitchFamily="34" charset="0"/>
                <a:ea typeface="Artifakt Element Heavy" panose="020B0B03050000020004" pitchFamily="34" charset="0"/>
              </a:rPr>
              <a:t>IEEE standard </a:t>
            </a:r>
            <a:r>
              <a:rPr lang="en-US" sz="1800" b="0" i="0" dirty="0">
                <a:solidFill>
                  <a:srgbClr val="000000"/>
                </a:solidFill>
                <a:effectLst/>
                <a:latin typeface="Artifakt Element Heavy" panose="020B0B03050000020004" pitchFamily="34" charset="0"/>
                <a:ea typeface="Artifakt Element Heavy" panose="020B0B03050000020004" pitchFamily="34" charset="0"/>
              </a:rPr>
              <a:t> </a:t>
            </a:r>
            <a:endParaRPr lang="en-US" b="0" i="0" dirty="0">
              <a:solidFill>
                <a:srgbClr val="000000"/>
              </a:solidFill>
              <a:effectLst/>
              <a:latin typeface="Artifakt Element Heavy" panose="020B0B03050000020004" pitchFamily="34" charset="0"/>
              <a:ea typeface="Artifakt Element Heavy" panose="020B0B03050000020004" pitchFamily="34" charset="0"/>
            </a:endParaRPr>
          </a:p>
          <a:p>
            <a:pPr marL="0" indent="0" algn="l" rtl="0" fontAlgn="base">
              <a:buNone/>
            </a:pPr>
            <a:r>
              <a:rPr lang="en-US" sz="1800" dirty="0">
                <a:solidFill>
                  <a:srgbClr val="000000"/>
                </a:solidFill>
                <a:effectLst/>
                <a:latin typeface="Artifakt Element Black" panose="020B0A03050000020004" pitchFamily="34" charset="0"/>
                <a:ea typeface="Artifakt Element Black" panose="020B0A03050000020004" pitchFamily="34" charset="0"/>
              </a:rPr>
              <a:t>Book</a:t>
            </a:r>
            <a:r>
              <a:rPr lang="en-US" sz="1800" b="1" dirty="0">
                <a:solidFill>
                  <a:srgbClr val="000000"/>
                </a:solidFill>
                <a:effectLst/>
                <a:latin typeface="Artifakt Element Black" panose="020B0A03050000020004" pitchFamily="34" charset="0"/>
                <a:ea typeface="Artifakt Element Black" panose="020B0A03050000020004" pitchFamily="34" charset="0"/>
              </a:rPr>
              <a:t>, </a:t>
            </a:r>
            <a:r>
              <a:rPr lang="en-US" sz="1800" dirty="0">
                <a:solidFill>
                  <a:srgbClr val="000000"/>
                </a:solidFill>
                <a:effectLst/>
                <a:latin typeface="Artifakt Element Black" panose="020B0A03050000020004" pitchFamily="34" charset="0"/>
                <a:ea typeface="Artifakt Element Black" panose="020B0A03050000020004" pitchFamily="34" charset="0"/>
              </a:rPr>
              <a:t> </a:t>
            </a:r>
            <a:endParaRPr lang="en-US" dirty="0">
              <a:solidFill>
                <a:srgbClr val="000000"/>
              </a:solidFill>
              <a:effectLst/>
              <a:latin typeface="Artifakt Element Black" panose="020B0A03050000020004" pitchFamily="34" charset="0"/>
              <a:ea typeface="Artifakt Element Black" panose="020B0A03050000020004" pitchFamily="34" charset="0"/>
            </a:endParaRPr>
          </a:p>
          <a:p>
            <a:pPr algn="l" rtl="0" fontAlgn="base"/>
            <a:r>
              <a:rPr lang="en-US" sz="1800" b="0" i="0" dirty="0">
                <a:solidFill>
                  <a:srgbClr val="000000"/>
                </a:solidFill>
                <a:effectLst/>
              </a:rPr>
              <a:t>A. M. Alhazmi and M. A. A. Alhassan, "Java Desktop Applications Development: A Case Study," </a:t>
            </a:r>
            <a:r>
              <a:rPr lang="en-US" sz="1800" b="0" i="1" dirty="0">
                <a:solidFill>
                  <a:srgbClr val="000000"/>
                </a:solidFill>
                <a:effectLst/>
              </a:rPr>
              <a:t>International Journal of Computer Applications</a:t>
            </a:r>
            <a:r>
              <a:rPr lang="en-US" sz="1800" b="0" i="0" dirty="0">
                <a:solidFill>
                  <a:srgbClr val="000000"/>
                </a:solidFill>
                <a:effectLst/>
              </a:rPr>
              <a:t>, vol. 75, no. 3, pp. 1-6, Aug. 2013. DOI: 10.5120/12860-3905. </a:t>
            </a:r>
            <a:endParaRPr lang="en-US" b="0" i="0" dirty="0">
              <a:solidFill>
                <a:srgbClr val="000000"/>
              </a:solidFill>
              <a:effectLst/>
            </a:endParaRPr>
          </a:p>
          <a:p>
            <a:pPr marL="0" indent="0" algn="l" rtl="0" fontAlgn="base">
              <a:buNone/>
            </a:pPr>
            <a:r>
              <a:rPr lang="en-US" sz="1800" b="1" i="0" dirty="0">
                <a:solidFill>
                  <a:srgbClr val="000000"/>
                </a:solidFill>
                <a:effectLst/>
                <a:latin typeface="Artifakt Element Heavy" panose="020B0B03050000020004" pitchFamily="34" charset="0"/>
                <a:ea typeface="Artifakt Element Heavy" panose="020B0B03050000020004" pitchFamily="34" charset="0"/>
                <a:cs typeface="Times New Roman" panose="02020603050405020304" pitchFamily="18" charset="0"/>
              </a:rPr>
              <a:t>Proceeding paper, </a:t>
            </a:r>
            <a:r>
              <a:rPr lang="en-US" sz="1800" b="0" i="0" dirty="0">
                <a:solidFill>
                  <a:srgbClr val="000000"/>
                </a:solidFill>
                <a:effectLst/>
                <a:latin typeface="Artifakt Element Heavy" panose="020B0B03050000020004" pitchFamily="34" charset="0"/>
                <a:ea typeface="Artifakt Element Heavy" panose="020B0B03050000020004" pitchFamily="34" charset="0"/>
              </a:rPr>
              <a:t> </a:t>
            </a:r>
            <a:endParaRPr lang="en-US" b="0" i="0" dirty="0">
              <a:solidFill>
                <a:srgbClr val="000000"/>
              </a:solidFill>
              <a:effectLst/>
              <a:latin typeface="Artifakt Element Heavy" panose="020B0B03050000020004" pitchFamily="34" charset="0"/>
              <a:ea typeface="Artifakt Element Heavy" panose="020B0B03050000020004" pitchFamily="34" charset="0"/>
            </a:endParaRPr>
          </a:p>
          <a:p>
            <a:pPr algn="l" rtl="0" fontAlgn="base"/>
            <a:r>
              <a:rPr lang="en-US" sz="1800" b="0" i="0" dirty="0">
                <a:solidFill>
                  <a:srgbClr val="000000"/>
                </a:solidFill>
                <a:effectLst/>
              </a:rPr>
              <a:t>S. K. Pandey and R. K. Gupta, "User Interface Design for Java AWT Applications," in </a:t>
            </a:r>
            <a:r>
              <a:rPr lang="en-US" sz="1800" b="0" i="1" dirty="0">
                <a:solidFill>
                  <a:srgbClr val="000000"/>
                </a:solidFill>
                <a:effectLst/>
              </a:rPr>
              <a:t>Proceedings of the 2021 IEEE International Conference on Computing and Communication Systems</a:t>
            </a:r>
            <a:r>
              <a:rPr lang="en-US" sz="1800" b="0" i="0" dirty="0">
                <a:solidFill>
                  <a:srgbClr val="000000"/>
                </a:solidFill>
                <a:effectLst/>
              </a:rPr>
              <a:t>, Bangalore, India, 2021, pp. 178-182. DOI: 10.1109/CCS51920.2021.9472106. </a:t>
            </a:r>
            <a:endParaRPr lang="en-US" b="0" i="0" dirty="0">
              <a:solidFill>
                <a:srgbClr val="000000"/>
              </a:solidFill>
              <a:effectLst/>
            </a:endParaRPr>
          </a:p>
          <a:p>
            <a:endParaRPr lang="en-IN" dirty="0"/>
          </a:p>
        </p:txBody>
      </p:sp>
    </p:spTree>
    <p:extLst>
      <p:ext uri="{BB962C8B-B14F-4D97-AF65-F5344CB8AC3E}">
        <p14:creationId xmlns:p14="http://schemas.microsoft.com/office/powerpoint/2010/main" val="2829584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1438</Words>
  <Application>Microsoft Office PowerPoint</Application>
  <PresentationFormat>Widescreen</PresentationFormat>
  <Paragraphs>130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Unicode MS</vt:lpstr>
      <vt:lpstr>Artifakt Element Black</vt:lpstr>
      <vt:lpstr>Artifakt Element Heavy</vt:lpstr>
      <vt:lpstr>Calibri</vt:lpstr>
      <vt:lpstr>Calibri Light</vt:lpstr>
      <vt:lpstr>Source Sans Pro</vt:lpstr>
      <vt:lpstr>Times New Roman</vt:lpstr>
      <vt:lpstr>Office Theme</vt:lpstr>
      <vt:lpstr>INTERNAL PRESENTATION</vt:lpstr>
      <vt:lpstr>PowerPoint Presentation</vt:lpstr>
      <vt:lpstr>Real-Time Digital Signage System  </vt:lpstr>
      <vt:lpstr>INDEX</vt:lpstr>
      <vt:lpstr>INTRODUCTION</vt:lpstr>
      <vt:lpstr>NEED/ MOTIVATION</vt:lpstr>
      <vt:lpstr>PROBLEM STATEMENT</vt:lpstr>
      <vt:lpstr>EXISTING METHODOLOGY</vt:lpstr>
      <vt:lpstr>CHALLENGES IN EXISTING METHODOLOGY</vt:lpstr>
      <vt:lpstr>PROPOSED METHODOLOGY</vt:lpstr>
      <vt:lpstr>ALGORITHM</vt:lpstr>
      <vt:lpstr>PowerPoint Presentation</vt:lpstr>
      <vt:lpstr>IMPLEMENTATION PLAN</vt:lpstr>
      <vt:lpstr>SOFTWARE / HARDWARE REQUIREMENTS</vt:lpstr>
      <vt:lpstr>FUTURE SCOPE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Tabaraq Syed</dc:creator>
  <cp:lastModifiedBy>Mugaira Pathan</cp:lastModifiedBy>
  <cp:revision>8</cp:revision>
  <dcterms:created xsi:type="dcterms:W3CDTF">2024-09-30T16:37:40Z</dcterms:created>
  <dcterms:modified xsi:type="dcterms:W3CDTF">2025-04-24T04:14:34Z</dcterms:modified>
</cp:coreProperties>
</file>